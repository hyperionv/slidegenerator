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6"/>
  </p:notesMasterIdLst>
  <p:sldIdLst>
    <p:sldId id="260" r:id="rId5"/>
  </p:sldIdLst>
  <p:sldSz cx="9144000" cy="5143500" type="screen16x9"/>
  <p:notesSz cx="6858000" cy="9144000"/>
  <p:embeddedFontLst>
    <p:embeddedFont>
      <p:font typeface="Manrope" charset="0"/>
      <p:regular r:id="rId7"/>
      <p:bold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04" userDrawn="1">
          <p15:clr>
            <a:srgbClr val="747775"/>
          </p15:clr>
        </p15:guide>
        <p15:guide id="2" pos="5564">
          <p15:clr>
            <a:srgbClr val="747775"/>
          </p15:clr>
        </p15:guide>
        <p15:guide id="3" orient="horz" pos="42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F5C"/>
    <a:srgbClr val="436E99"/>
    <a:srgbClr val="DCC086"/>
    <a:srgbClr val="01274F"/>
    <a:srgbClr val="1EA89B"/>
    <a:srgbClr val="D7E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C17D90-5EDD-40C1-A788-3ED6A1A31342}">
  <a:tblStyle styleId="{E2C17D90-5EDD-40C1-A788-3ED6A1A3134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61" autoAdjust="0"/>
    <p:restoredTop sz="94681"/>
  </p:normalViewPr>
  <p:slideViewPr>
    <p:cSldViewPr snapToGrid="0">
      <p:cViewPr varScale="1">
        <p:scale>
          <a:sx n="133" d="100"/>
          <a:sy n="133" d="100"/>
        </p:scale>
        <p:origin x="678" y="126"/>
      </p:cViewPr>
      <p:guideLst>
        <p:guide pos="204"/>
        <p:guide pos="5564"/>
        <p:guide orient="horz" pos="42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font" Target="fonts/font1.fntdata"/><Relationship Id="rId8" Type="http://schemas.openxmlformats.org/officeDocument/2006/relationships/font" Target="fonts/font2.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5E2C6036-AC0C-29C3-5831-BAA9EAB40A1B}"/>
            </a:ext>
          </a:extLst>
        </p:cNvPr>
        <p:cNvGrpSpPr/>
        <p:nvPr/>
      </p:nvGrpSpPr>
      <p:grpSpPr>
        <a:xfrm>
          <a:off x="0" y="0"/>
          <a:ext cx="0" cy="0"/>
          <a:chOff x="0" y="0"/>
          <a:chExt cx="0" cy="0"/>
        </a:xfrm>
      </p:grpSpPr>
      <p:sp>
        <p:nvSpPr>
          <p:cNvPr id="131" name="Google Shape;131;g35d5f73c21f_0_43:notes">
            <a:extLst>
              <a:ext uri="{FF2B5EF4-FFF2-40B4-BE49-F238E27FC236}">
                <a16:creationId xmlns:a16="http://schemas.microsoft.com/office/drawing/2014/main" id="{C8FC8836-0733-DDE4-3E27-32940CB9F6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5d5f73c21f_0_43:notes">
            <a:extLst>
              <a:ext uri="{FF2B5EF4-FFF2-40B4-BE49-F238E27FC236}">
                <a16:creationId xmlns:a16="http://schemas.microsoft.com/office/drawing/2014/main" id="{7AD5B49A-0BD4-A46E-B58A-CF33F6F509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slide is for experimenting purpose, specifically for testing out the table component, please generate some random content for the tables in the slide. For the first table, please generate something with 3 rows, 4 columns; for the second one, generate a table with 3 columns, 2 rows</a:t>
            </a:r>
            <a:endParaRPr dirty="0"/>
          </a:p>
        </p:txBody>
      </p:sp>
    </p:spTree>
    <p:extLst>
      <p:ext uri="{BB962C8B-B14F-4D97-AF65-F5344CB8AC3E}">
        <p14:creationId xmlns:p14="http://schemas.microsoft.com/office/powerpoint/2010/main" val="867642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23190F4-DBA8-559F-5FC6-1FEE6FBA2F7C}"/>
            </a:ext>
          </a:extLst>
        </p:cNvPr>
        <p:cNvGrpSpPr/>
        <p:nvPr/>
      </p:nvGrpSpPr>
      <p:grpSpPr>
        <a:xfrm>
          <a:off x="0" y="0"/>
          <a:ext cx="0" cy="0"/>
          <a:chOff x="0" y="0"/>
          <a:chExt cx="0" cy="0"/>
        </a:xfrm>
      </p:grpSpPr>
      <p:sp>
        <p:nvSpPr>
          <p:cNvPr id="134" name="Google Shape;134;p16" descr="">
            <a:extLst>
              <a:ext uri="{FF2B5EF4-FFF2-40B4-BE49-F238E27FC236}">
                <a16:creationId xmlns:a16="http://schemas.microsoft.com/office/drawing/2014/main" id="{30682E31-C871-C127-7716-2265BC4787E1}"/>
              </a:ext>
            </a:extLst>
          </p:cNvPr>
          <p:cNvSpPr txBox="1">
            <a:spLocks noGrp="1"/>
          </p:cNvSpPr>
          <p:nvPr>
            <p:ph type="title"/>
          </p:nvPr>
        </p:nvSpPr>
        <p:spPr>
          <a:xfrm>
            <a:off x="311700" y="428950"/>
            <a:ext cx="8520600" cy="405300"/>
          </a:xfrm>
          <a:prstGeom prst="rect">
            <a:avLst/>
          </a:prstGeom>
        </p:spPr>
        <p:txBody>
          <a:bodyPr spcFirstLastPara="1" wrap="square" lIns="0" tIns="91425" rIns="0" bIns="91425" anchor="t" anchorCtr="0">
            <a:noAutofit/>
          </a:bodyPr>
          <a:lstStyle/>
          <a:p>
            <a:pPr marL="0" lvl="0" indent="0" algn="l" rtl="0">
              <a:spcBef>
                <a:spcPts val="0"/>
              </a:spcBef>
              <a:spcAft>
                <a:spcPts val="0"/>
              </a:spcAft>
              <a:buSzPts val="990"/>
              <a:buNone/>
            </a:pPr>
            <a:r>
              <a:rPr lang="en-GB" sz="1300" b="1">
                <a:solidFill>
                  <a:srgbClr val="01284F"/>
                </a:solidFill>
                <a:latin typeface="Manrope"/>
                <a:ea typeface="Manrope"/>
                <a:cs typeface="Manrope"/>
                <a:sym typeface="Manrope"/>
              </a:rPr>
              <a:t>Company Research: M.O.I Cosmetics</a:t>
            </a:r>
            <a:endParaRPr sz="1300" b="1" dirty="0">
              <a:solidFill>
                <a:srgbClr val="01284F"/>
              </a:solidFill>
              <a:latin typeface="Manrope"/>
              <a:ea typeface="Manrope"/>
              <a:cs typeface="Manrope"/>
              <a:sym typeface="Manrope"/>
            </a:endParaRPr>
          </a:p>
        </p:txBody>
      </p:sp>
      <p:sp>
        <p:nvSpPr>
          <p:cNvPr id="135" name="Google Shape;135;p16" descr="">
            <a:extLst>
              <a:ext uri="{FF2B5EF4-FFF2-40B4-BE49-F238E27FC236}">
                <a16:creationId xmlns:a16="http://schemas.microsoft.com/office/drawing/2014/main" id="{6B97B7FD-F1F9-9A0A-D401-E61A09ACDC61}"/>
              </a:ext>
            </a:extLst>
          </p:cNvPr>
          <p:cNvSpPr txBox="1">
            <a:spLocks noGrp="1"/>
          </p:cNvSpPr>
          <p:nvPr>
            <p:ph type="title"/>
          </p:nvPr>
        </p:nvSpPr>
        <p:spPr>
          <a:xfrm>
            <a:off x="311700" y="675900"/>
            <a:ext cx="8520600" cy="405300"/>
          </a:xfrm>
          <a:prstGeom prst="rect">
            <a:avLst/>
          </a:prstGeom>
        </p:spPr>
        <p:txBody>
          <a:bodyPr spcFirstLastPara="1" wrap="square" lIns="0" tIns="91425" rIns="0" bIns="91425" anchor="t" anchorCtr="0">
            <a:noAutofit/>
          </a:bodyPr>
          <a:lstStyle/>
          <a:p>
            <a:pPr marL="0" lvl="0" indent="0" algn="l" rtl="0">
              <a:spcBef>
                <a:spcPts val="0"/>
              </a:spcBef>
              <a:spcAft>
                <a:spcPts val="0"/>
              </a:spcAft>
              <a:buSzPts val="891"/>
              <a:buNone/>
            </a:pPr>
            <a:r>
              <a:rPr lang="en-GB" sz="1100" i="1">
                <a:latin typeface="Manrope"/>
                <a:ea typeface="Manrope"/>
                <a:cs typeface="Manrope"/>
                <a:sym typeface="Manrope"/>
              </a:rPr>
              <a:t>A Local Champion Leveraging Celebrity Influence and Digital Agility</a:t>
            </a:r>
            <a:endParaRPr sz="1100" i="1" dirty="0">
              <a:latin typeface="Manrope"/>
              <a:ea typeface="Manrope"/>
              <a:cs typeface="Manrope"/>
              <a:sym typeface="Manrope"/>
            </a:endParaRPr>
          </a:p>
        </p:txBody>
      </p:sp>
      <p:pic>
        <p:nvPicPr>
          <p:cNvPr id="142" name="Google Shape;142;p16">
            <a:extLst>
              <a:ext uri="{FF2B5EF4-FFF2-40B4-BE49-F238E27FC236}">
                <a16:creationId xmlns:a16="http://schemas.microsoft.com/office/drawing/2014/main" id="{BEAC9A27-436C-781D-305B-E4C204A47D83}"/>
              </a:ext>
            </a:extLst>
          </p:cNvPr>
          <p:cNvPicPr preferRelativeResize="0"/>
          <p:nvPr/>
        </p:nvPicPr>
        <p:blipFill>
          <a:blip r:embed="rId3">
            <a:alphaModFix/>
          </a:blip>
          <a:stretch>
            <a:fillRect/>
          </a:stretch>
        </p:blipFill>
        <p:spPr>
          <a:xfrm>
            <a:off x="8165375" y="197625"/>
            <a:ext cx="666925" cy="666925"/>
          </a:xfrm>
          <a:prstGeom prst="rect">
            <a:avLst/>
          </a:prstGeom>
          <a:noFill/>
          <a:ln>
            <a:noFill/>
          </a:ln>
        </p:spPr>
      </p:pic>
      <p:graphicFrame>
        <p:nvGraphicFramePr>
          <p:cNvPr id="4" name="Table 3" descr="">
            <a:extLst>
              <a:ext uri="{FF2B5EF4-FFF2-40B4-BE49-F238E27FC236}">
                <a16:creationId xmlns:a16="http://schemas.microsoft.com/office/drawing/2014/main" id="{3E87D4D5-9F46-21D6-3C40-F6CCEB3D4A7A}"/>
              </a:ext>
            </a:extLst>
          </p:cNvPr>
          <p:cNvGraphicFramePr>
            <a:graphicFrameLocks noGrp="1"/>
          </p:cNvGraphicFramePr>
          <p:nvPr>
            <p:extLst>
              <p:ext uri="{D42A27DB-BD31-4B8C-83A1-F6EECF244321}">
                <p14:modId xmlns:p14="http://schemas.microsoft.com/office/powerpoint/2010/main" val="3350195238"/>
              </p:ext>
            </p:extLst>
          </p:nvPr>
        </p:nvGraphicFramePr>
        <p:xfrm>
          <a:off x="311700" y="2459750"/>
          <a:ext cx="6096000" cy="518160"/>
        </p:xfrm>
        <a:graphic>
          <a:graphicData uri="http://schemas.openxmlformats.org/drawingml/2006/table">
            <a:tbl>
              <a:tblPr firstRow="1" bandRow="1">
                <a:tableStyleId>{E2C17D90-5EDD-40C1-A788-3ED6A1A31342}</a:tableStyleId>
              </a:tblPr>
              <a:tblGrid>
                <a:gridCol w="1524000">
                  <a:extLst>
                    <a:ext uri="{9D8B030D-6E8A-4147-A177-3AD203B41FA5}">
                      <a16:colId xmlns:a16="http://schemas.microsoft.com/office/drawing/2014/main" val="700972767"/>
                    </a:ext>
                  </a:extLst>
                </a:gridCol>
                <a:gridCol w="1524000">
                  <a:extLst>
                    <a:ext uri="{9D8B030D-6E8A-4147-A177-3AD203B41FA5}">
                      <a16:colId xmlns:a16="http://schemas.microsoft.com/office/drawing/2014/main" val="3300081763"/>
                    </a:ext>
                  </a:extLst>
                </a:gridCol>
                <a:gridCol w="1524000">
                  <a:extLst>
                    <a:ext uri="{9D8B030D-6E8A-4147-A177-3AD203B41FA5}">
                      <a16:colId xmlns:a16="http://schemas.microsoft.com/office/drawing/2014/main" val="3300081763"/>
                    </a:ext>
                  </a:extLst>
                </a:gridCol>
                <a:gridCol w="1524000">
                  <a:extLst>
                    <a:ext uri="{9D8B030D-6E8A-4147-A177-3AD203B41FA5}">
                      <a16:colId xmlns:a16="http://schemas.microsoft.com/office/drawing/2014/main" val="3300081763"/>
                    </a:ext>
                  </a:extLst>
                </a:gridCol>
              </a:tblGrid>
              <a:tr h="231725">
                <a:tc>
                  <a:txBody>
                    <a:bodyPr/>
                    <a:lstStyle/>
                    <a:p>
                      <a:r>
                        <a:rPr sz="1100" b="1" i="0">
                          <a:latin typeface="Manrope"/>
                        </a:rPr>
                        <a:t>Project Phase</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sz="1100" b="1" i="0">
                          <a:latin typeface="Manrope"/>
                        </a:rPr>
                        <a:t>Budget Allocation</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sz="1100" b="1" i="0">
                          <a:latin typeface="Manrope"/>
                        </a:rPr>
                        <a:t>Completion Rate</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sz="1100" b="1" i="0">
                          <a:latin typeface="Manrope"/>
                        </a:rPr>
                        <a:t>Risk Level</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270883391"/>
                  </a:ext>
                </a:extLst>
              </a:tr>
              <a:tr h="231725">
                <a:tc>
                  <a:txBody>
                    <a:bodyPr/>
                    <a:lstStyle/>
                    <a:p>
                      <a:r>
                        <a:rPr sz="1100" b="0" i="0">
                          <a:latin typeface="Manrope"/>
                        </a:rPr>
                        <a:t>Alpha Testing</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sz="1100" b="0" i="0">
                          <a:latin typeface="Manrope"/>
                        </a:rPr>
                        <a:t>30%</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sz="1100" b="0" i="0">
                          <a:latin typeface="Manrope"/>
                        </a:rPr>
                        <a:t>$150,000</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sz="1100" b="0" i="0">
                          <a:latin typeface="Manrope"/>
                        </a:rPr>
                        <a:t>Medium</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0940587"/>
                  </a:ext>
                </a:extLst>
              </a:tr>
              <a:tr h="231725">
                <a:tc>
                  <a:txBody>
                    <a:bodyPr/>
                    <a:lstStyle/>
                    <a:p>
                      <a:r>
                        <a:rPr sz="1100" b="0" i="0">
                          <a:latin typeface="Manrope"/>
                        </a:rPr>
                        <a:t>Beta Launch</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sz="1100" b="0" i="0">
                          <a:latin typeface="Manrope"/>
                        </a:rPr>
                        <a:t>55%</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sz="1100" b="0" i="0">
                          <a:latin typeface="Manrope"/>
                        </a:rPr>
                        <a:t>$275,000</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sz="1100" b="0" i="0">
                          <a:latin typeface="Manrope"/>
                        </a:rPr>
                        <a:t>Low</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0940587"/>
                  </a:ext>
                </a:extLst>
              </a:tr>
            </a:tbl>
          </a:graphicData>
        </a:graphic>
      </p:graphicFrame>
      <p:graphicFrame>
        <p:nvGraphicFramePr>
          <p:cNvPr id="9" name="Table 8" descr="">
            <a:extLst>
              <a:ext uri="{FF2B5EF4-FFF2-40B4-BE49-F238E27FC236}">
                <a16:creationId xmlns:a16="http://schemas.microsoft.com/office/drawing/2014/main" id="{9E71FB70-FB26-BF3C-556B-4724676D4611}"/>
              </a:ext>
            </a:extLst>
          </p:cNvPr>
          <p:cNvGraphicFramePr>
            <a:graphicFrameLocks noGrp="1"/>
          </p:cNvGraphicFramePr>
          <p:nvPr>
            <p:extLst>
              <p:ext uri="{D42A27DB-BD31-4B8C-83A1-F6EECF244321}">
                <p14:modId xmlns:p14="http://schemas.microsoft.com/office/powerpoint/2010/main" val="2463728537"/>
              </p:ext>
            </p:extLst>
          </p:nvPr>
        </p:nvGraphicFramePr>
        <p:xfrm>
          <a:off x="311700" y="3591350"/>
          <a:ext cx="8520600" cy="518160"/>
        </p:xfrm>
        <a:graphic>
          <a:graphicData uri="http://schemas.openxmlformats.org/drawingml/2006/table">
            <a:tbl>
              <a:tblPr firstRow="1" bandRow="1">
                <a:tableStyleId>{E2C17D90-5EDD-40C1-A788-3ED6A1A31342}</a:tableStyleId>
              </a:tblPr>
              <a:tblGrid>
                <a:gridCol w="2840200">
                  <a:extLst>
                    <a:ext uri="{9D8B030D-6E8A-4147-A177-3AD203B41FA5}">
                      <a16:colId xmlns:a16="http://schemas.microsoft.com/office/drawing/2014/main" val="700972767"/>
                    </a:ext>
                  </a:extLst>
                </a:gridCol>
                <a:gridCol w="2840200">
                  <a:extLst>
                    <a:ext uri="{9D8B030D-6E8A-4147-A177-3AD203B41FA5}">
                      <a16:colId xmlns:a16="http://schemas.microsoft.com/office/drawing/2014/main" val="3300081763"/>
                    </a:ext>
                  </a:extLst>
                </a:gridCol>
                <a:gridCol w="2840200">
                  <a:extLst>
                    <a:ext uri="{9D8B030D-6E8A-4147-A177-3AD203B41FA5}">
                      <a16:colId xmlns:a16="http://schemas.microsoft.com/office/drawing/2014/main" val="3300081763"/>
                    </a:ext>
                  </a:extLst>
                </a:gridCol>
              </a:tblGrid>
              <a:tr h="259080">
                <a:tc>
                  <a:txBody>
                    <a:bodyPr/>
                    <a:lstStyle/>
                    <a:p>
                      <a:r>
                        <a:rPr sz="1000" b="1" i="0">
                          <a:latin typeface="Manrope"/>
                        </a:rPr>
                        <a:t>Department</a:t>
                      </a:r>
                    </a:p>
                  </a:txBody>
                  <a:tcPr/>
                </a:tc>
                <a:tc>
                  <a:txBody>
                    <a:bodyPr/>
                    <a:lstStyle/>
                    <a:p>
                      <a:r>
                        <a:rPr sz="1000" b="1" i="0">
                          <a:latin typeface="Manrope"/>
                        </a:rPr>
                        <a:t>Headcount</a:t>
                      </a:r>
                    </a:p>
                  </a:txBody>
                  <a:tcPr/>
                </a:tc>
                <a:tc>
                  <a:txBody>
                    <a:bodyPr/>
                    <a:lstStyle/>
                    <a:p>
                      <a:r>
                        <a:rPr sz="1000" b="1" i="0">
                          <a:latin typeface="Manrope"/>
                        </a:rPr>
                        <a:t>Utilization</a:t>
                      </a:r>
                    </a:p>
                  </a:txBody>
                  <a:tcPr/>
                </a:tc>
                <a:extLst>
                  <a:ext uri="{0D108BD9-81ED-4DB2-BD59-A6C34878D82A}">
                    <a16:rowId xmlns:a16="http://schemas.microsoft.com/office/drawing/2014/main" val="4270883391"/>
                  </a:ext>
                </a:extLst>
              </a:tr>
              <a:tr h="259080">
                <a:tc>
                  <a:txBody>
                    <a:bodyPr/>
                    <a:lstStyle/>
                    <a:p>
                      <a:r>
                        <a:rPr sz="1000" b="1" i="0">
                          <a:latin typeface="Manrope"/>
                        </a:rPr>
                        <a:t>Engineering</a:t>
                      </a:r>
                    </a:p>
                  </a:txBody>
                  <a:tcPr/>
                </a:tc>
                <a:tc>
                  <a:txBody>
                    <a:bodyPr/>
                    <a:lstStyle/>
                    <a:p>
                      <a:r>
                        <a:rPr sz="1000" b="1" i="0">
                          <a:latin typeface="Manrope"/>
                        </a:rPr>
                        <a:t>45</a:t>
                      </a:r>
                    </a:p>
                  </a:txBody>
                  <a:tcPr/>
                </a:tc>
                <a:tc>
                  <a:txBody>
                    <a:bodyPr/>
                    <a:lstStyle/>
                    <a:p>
                      <a:r>
                        <a:rPr sz="1000" b="1" i="0">
                          <a:latin typeface="Manrope"/>
                        </a:rPr>
                        <a:t>92%</a:t>
                      </a:r>
                    </a:p>
                  </a:txBody>
                  <a:tcPr/>
                </a:tc>
                <a:extLst>
                  <a:ext uri="{0D108BD9-81ED-4DB2-BD59-A6C34878D82A}">
                    <a16:rowId xmlns:a16="http://schemas.microsoft.com/office/drawing/2014/main" val="3620940587"/>
                  </a:ext>
                </a:extLst>
              </a:tr>
            </a:tbl>
          </a:graphicData>
        </a:graphic>
      </p:graphicFrame>
      <p:graphicFrame>
        <p:nvGraphicFramePr>
          <p:cNvPr id="2" name="Table 1" descr="">
            <a:extLst>
              <a:ext uri="{FF2B5EF4-FFF2-40B4-BE49-F238E27FC236}">
                <a16:creationId xmlns:a16="http://schemas.microsoft.com/office/drawing/2014/main" id="{FC8CAB7D-86EC-0738-DCB6-0AC2A03BB9C7}"/>
              </a:ext>
            </a:extLst>
          </p:cNvPr>
          <p:cNvGraphicFramePr>
            <a:graphicFrameLocks noGrp="1"/>
          </p:cNvGraphicFramePr>
          <p:nvPr>
            <p:extLst>
              <p:ext uri="{D42A27DB-BD31-4B8C-83A1-F6EECF244321}">
                <p14:modId xmlns:p14="http://schemas.microsoft.com/office/powerpoint/2010/main" val="1758857846"/>
              </p:ext>
            </p:extLst>
          </p:nvPr>
        </p:nvGraphicFramePr>
        <p:xfrm>
          <a:off x="311700" y="1452950"/>
          <a:ext cx="6096000" cy="370840"/>
        </p:xfrm>
        <a:graphic>
          <a:graphicData uri="http://schemas.openxmlformats.org/drawingml/2006/table">
            <a:tbl>
              <a:tblPr firstRow="1" bandRow="1">
                <a:tableStyleId>{E2C17D90-5EDD-40C1-A788-3ED6A1A31342}</a:tableStyleId>
              </a:tblPr>
              <a:tblGrid>
                <a:gridCol w="6096000">
                  <a:extLst>
                    <a:ext uri="{9D8B030D-6E8A-4147-A177-3AD203B41FA5}">
                      <a16:colId xmlns:a16="http://schemas.microsoft.com/office/drawing/2014/main" val="2423714478"/>
                    </a:ext>
                  </a:extLst>
                </a:gridCol>
              </a:tblGrid>
              <a:tr h="370840">
                <a:tc>
                  <a:txBody>
                    <a:bodyPr/>
                    <a:lstStyle/>
                    <a:p>
                      <a:r>
                        <a:rPr sz="1200">
                          <a:solidFill>
                            <a:srgbClr val="000000"/>
                          </a:solidFill>
                          <a:latin typeface="Manrope"/>
                        </a:rPr>
                        <a:t>Placeholder Data Tables for Component Testing</a:t>
                      </a:r>
                    </a:p>
                  </a:txBody>
                  <a:tcPr anchor="b">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7576871"/>
                  </a:ext>
                </a:extLst>
              </a:tr>
            </a:tbl>
          </a:graphicData>
        </a:graphic>
      </p:graphicFrame>
    </p:spTree>
    <p:extLst>
      <p:ext uri="{BB962C8B-B14F-4D97-AF65-F5344CB8AC3E}">
        <p14:creationId xmlns:p14="http://schemas.microsoft.com/office/powerpoint/2010/main" val="40198228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0e9e1ab-6588-40ca-8aec-421ae5e037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CF23041F193214B8E57F0E285C1A82C" ma:contentTypeVersion="15" ma:contentTypeDescription="Create a new document." ma:contentTypeScope="" ma:versionID="cf3ebee454f8221a9c629dca5cfa0020">
  <xsd:schema xmlns:xsd="http://www.w3.org/2001/XMLSchema" xmlns:xs="http://www.w3.org/2001/XMLSchema" xmlns:p="http://schemas.microsoft.com/office/2006/metadata/properties" xmlns:ns3="f0e9e1ab-6588-40ca-8aec-421ae5e03741" xmlns:ns4="1b879db0-c332-4749-8662-4ec22ed2fa72" targetNamespace="http://schemas.microsoft.com/office/2006/metadata/properties" ma:root="true" ma:fieldsID="d0b1b7a147e5670e199648fc6c7b9374" ns3:_="" ns4:_="">
    <xsd:import namespace="f0e9e1ab-6588-40ca-8aec-421ae5e03741"/>
    <xsd:import namespace="1b879db0-c332-4749-8662-4ec22ed2fa7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Location"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9e1ab-6588-40ca-8aec-421ae5e037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b879db0-c332-4749-8662-4ec22ed2fa7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45DB43-CE85-49D2-A992-FA955C0F5359}">
  <ds:schemaRefs>
    <ds:schemaRef ds:uri="http://www.w3.org/XML/1998/namespace"/>
    <ds:schemaRef ds:uri="http://purl.org/dc/elements/1.1/"/>
    <ds:schemaRef ds:uri="http://schemas.openxmlformats.org/package/2006/metadata/core-properties"/>
    <ds:schemaRef ds:uri="http://purl.org/dc/dcmitype/"/>
    <ds:schemaRef ds:uri="http://purl.org/dc/terms/"/>
    <ds:schemaRef ds:uri="http://schemas.microsoft.com/office/2006/documentManagement/types"/>
    <ds:schemaRef ds:uri="http://schemas.microsoft.com/office/infopath/2007/PartnerControls"/>
    <ds:schemaRef ds:uri="1b879db0-c332-4749-8662-4ec22ed2fa72"/>
    <ds:schemaRef ds:uri="f0e9e1ab-6588-40ca-8aec-421ae5e03741"/>
    <ds:schemaRef ds:uri="http://schemas.microsoft.com/office/2006/metadata/properties"/>
  </ds:schemaRefs>
</ds:datastoreItem>
</file>

<file path=customXml/itemProps2.xml><?xml version="1.0" encoding="utf-8"?>
<ds:datastoreItem xmlns:ds="http://schemas.openxmlformats.org/officeDocument/2006/customXml" ds:itemID="{5E9700B6-E377-42AF-AE50-E1D4C832DF63}">
  <ds:schemaRefs>
    <ds:schemaRef ds:uri="http://schemas.microsoft.com/sharepoint/v3/contenttype/forms"/>
  </ds:schemaRefs>
</ds:datastoreItem>
</file>

<file path=customXml/itemProps3.xml><?xml version="1.0" encoding="utf-8"?>
<ds:datastoreItem xmlns:ds="http://schemas.openxmlformats.org/officeDocument/2006/customXml" ds:itemID="{CDD3A138-5ACD-47B5-BD62-AB387AD451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9e1ab-6588-40ca-8aec-421ae5e03741"/>
    <ds:schemaRef ds:uri="1b879db0-c332-4749-8662-4ec22ed2fa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634</TotalTime>
  <Words>85</Words>
  <Application>Microsoft Office PowerPoint</Application>
  <PresentationFormat>On-screen Show (16:9)</PresentationFormat>
  <Paragraphs>12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Manrope</vt:lpstr>
      <vt:lpstr>Simple Light</vt:lpstr>
      <vt:lpstr>Testing slide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Giang Nguyen</dc:creator>
  <cp:lastModifiedBy>Võ Minh Khôi</cp:lastModifiedBy>
  <cp:revision>27</cp:revision>
  <dcterms:modified xsi:type="dcterms:W3CDTF">2025-12-02T18:17:35Z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0x010100BCF23041F193214B8E57F0E285C1A82C</vt:lpwstr>
  </property>
</Properties>
</file>