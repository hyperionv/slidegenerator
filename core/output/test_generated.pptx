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Market Value (US$B)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2.0</c:v>
                </c:pt>
                <c:pt idx="1">
                  <c:v>2.11</c:v>
                </c:pt>
                <c:pt idx="2">
                  <c:v>2.23</c:v>
                </c:pt>
                <c:pt idx="3">
                  <c:v>2.35</c:v>
                </c:pt>
                <c:pt idx="4">
                  <c:v>2.48</c:v>
                </c:pt>
                <c:pt idx="5">
                  <c:v>2.62</c:v>
                </c:pt>
                <c:pt idx="6">
                  <c:v>2.77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for the company profile, where a historical timeline, containing the milestones of the target company will be displayed. THIS IS HUMAN-GENERATED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contains the Investment Highlights, make sure to keep the 3</a:t>
            </a:r>
            <a:r>
              <a:rPr lang="en-US" baseline="30000"/>
              <a:t>rd</a:t>
            </a:r>
            <a:r>
              <a:rPr lang="en-US"/>
              <a:t> column’s content (not header) “TBU”. This rule is only applied for the content of the 3</a:t>
            </a:r>
            <a:r>
              <a:rPr lang="en-US" baseline="30000"/>
              <a:t>rd</a:t>
            </a:r>
            <a:r>
              <a:rPr lang="en-US"/>
              <a:t> row, generate the rest of the content as-is.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2.jpe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M.O.I Cosmetics: From Startup to Domestic Beauty Champion (2017–2024)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latin typeface="Manrope"/>
              </a:rPr>
              <a:t>Leveraging celebrity influence and Korean manufacturing quality to capture domestic market share.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lt1"/>
                </a:solidFill>
                <a:latin typeface="Manrope"/>
              </a:rPr>
              <a:t>2017–2018: Founding &amp; Initial Market Validation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latin typeface="Manrope"/>
              </a:rPr>
              <a:t>Established by co-founders Hồ Ngọc Hà and Lâm Thành Kim. _x000D_
Achieved VND 30 billion revenue in the first year (FY 2018). _x000D_
Focus on rapid product launches to test consumer preferences.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lt1"/>
                </a:solidFill>
                <a:latin typeface="Manrope"/>
              </a:rPr>
              <a:t>2019–2021: Profitability, Investment, and Strategic Outsourcing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latin typeface="Manrope"/>
              </a:rPr>
              <a:t>Achieved profitability in FY 2019 and secured $450K Series A funding. _x000D_
Adopted an asset-light model, outsourcing all manufacturing to certified factories in South Korea. _x000D_
Launched DA by M.O.I skincare sub-brand (2021).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latin typeface="Manrope"/>
              </a:rPr>
              <a:t>2022–2024: Market Leadership &amp; Exponential Growth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latin typeface="Manrope"/>
              </a:rPr>
              <a:t>Achieved 3.2% makeup market share (only Vietnamese brand in Top 10) by 2022. _x000D_
Cumulative sales exceeded 4 million units by the end of 2022. _x000D_
Reports an average annual growth rate of 150% (excluding 2021).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latin typeface="Manrope"/>
              </a:rPr>
              <a:t>Core Competitive Advantages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latin typeface="Manrope"/>
              </a:rPr>
              <a:t>M.O.I maintains a defensible position by leveraging: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027976" y="2127242"/>
            <a:ext cx="1686963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latin typeface="Manrope"/>
              </a:rPr>
              <a:t>Celebrity-Driven Brand Moat (Hồ Ngọc Hà as Creative Director)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027976" y="2678067"/>
            <a:ext cx="1686963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latin typeface="Manrope"/>
              </a:rPr>
              <a:t>Hyper-Localized Product Portfolio (Tailored for Vietnamese skin and climate)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027977" y="3228892"/>
            <a:ext cx="1730614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latin typeface="Manrope"/>
              </a:rPr>
              <a:t>Extensive Omni-Channel Distribution (1,000+ agents + Major Retail Placement)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Vietnam Cosmetics Market: High-Growth Driven by Digitalization and Premiumization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latin typeface="Manrope"/>
              </a:rPr>
              <a:t>$2.0B market size projected for 5.5% CAGR through 2030, underpinned by shifting consumer behavior and channel optimization.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1284F"/>
                </a:solidFill>
                <a:latin typeface="Manrope"/>
              </a:rPr>
              <a:t>Core Market Size &amp; Projected Growth (2024–2030F)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 descr="d96da4eb-5c3f-4e3f-8852-59d297054df9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Source: Industry Consensus (MarkNtel, IMARC, Markets &amp; Data); Projected at 5.5% CAGR.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lt1"/>
                </a:solidFill>
                <a:latin typeface="Manrope"/>
              </a:rPr>
              <a:t>Structural Drivers Accelerating Market Transformation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sz="900">
                <a:solidFill>
                  <a:schemeClr val="bg1"/>
                </a:solidFill>
                <a:latin typeface="Manrope"/>
              </a:rPr>
              <a:t>Mix, bake, chill, serve.</a:t>
            </a:r>
            <a:endParaRPr lang="en-US" sz="9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2964493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**Channel Shift to E-commerce**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7" y="2321658"/>
            <a:ext cx="2957193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**Rising Consumer Affluence**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**Functional Skincare Dominance**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29571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Online channels accounted for $1.5B in 2023, growing over 50% YoY. Expected to reach 24% of sales by 2027.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295719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Middle class projected to reach 26% of population by 2026, driving shift toward premium and discretionary purchases.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Skincare holds 43% market share and is projected for 11.8% CAGR, fueled by demand for anti-aging and UV protection products.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Investment Rationale: Accelerating Growth and Premium Valuation Potential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latin typeface="Manrope"/>
              </a:rPr>
              <a:t>M.O.I offers exceptional growth (150% YoY average), proven profitability, and a path to commanding premium multiples through niche consolidation and digital mastery.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01284F"/>
                </a:solidFill>
                <a:latin typeface="Manrope"/>
              </a:rPr>
              <a:t>Defensible Moat via Localization and Distribution</a:t>
            </a:r>
          </a:p>
        </p:txBody>
      </p:sp>
      <p:sp>
        <p:nvSpPr>
          <p:cNvPr id="17" name="Google Shape;134;p16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436E99"/>
                </a:solidFill>
                <a:latin typeface="Manrope"/>
              </a:rPr>
              <a:t>Exceptional Growth Trajectory and Financial Resilience</a:t>
            </a:r>
          </a:p>
        </p:txBody>
      </p:sp>
      <p:sp>
        <p:nvSpPr>
          <p:cNvPr id="18" name="Google Shape;134;p16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DCC086"/>
                </a:solidFill>
                <a:latin typeface="Manrope"/>
              </a:rPr>
              <a:t>High Strategic Value as an M&amp;A Platform</a:t>
            </a: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1EA89B"/>
                </a:solidFill>
                <a:latin typeface="Manrope"/>
              </a:rPr>
              <a:t>Strategic Growth Roadmap and Adjacency Expansion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chemeClr val="tx1"/>
                </a:solidFill>
                <a:latin typeface="Manrope"/>
              </a:rPr>
              <a:t>M.O.I combines international quality (Korean manufacturing) with hyper-localization (products tailored for Vietnamese users).
The extensive 1,000-agent distribution network and strong retail placement create high barriers to entry for new domestic competitors.
Only Vietnamese enterprise consistently ranked in Top 10 makeup cosmetics market share (3.2% share by 2022).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chemeClr val="tx1"/>
                </a:solidFill>
                <a:latin typeface="Manrope"/>
              </a:rPr>
              <a:t>Average annual growth rate of 150% (excluding 2021) demonstrates rapid market capture.
Achieved profitability as early as FY 2019, indicating healthy unit economics and efficient execution.
Positioned to command a premium over median global beauty EV/Revenue multiple (2.6x).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 i="1">
                <a:solidFill>
                  <a:schemeClr val="bg2"/>
                </a:solidFill>
                <a:latin typeface="Manrope"/>
              </a:rPr>
              <a:t>TBU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chemeClr val="tx1"/>
                </a:solidFill>
                <a:latin typeface="Manrope"/>
              </a:rPr>
              <a:t>Strategic expansion beyond color cosmetics into high-growth, high-margin adjacencies (Haircare, anti-aging intensive care).
Expansion into DA by M.O.I skincare sub-brand targets the largest market segment (43% share).
Product roadmap includes development of vegan-certified product lines, aligning with 30% CAGR niche.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486</Words>
  <Application>Microsoft Office PowerPoint</Application>
  <PresentationFormat>On-screen Show (16:9)</PresentationFormat>
  <Paragraphs>49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Manrope</vt:lpstr>
      <vt:lpstr>Arial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16</cp:revision>
  <dcterms:modified xsi:type="dcterms:W3CDTF">2025-10-21T09:30:09Z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