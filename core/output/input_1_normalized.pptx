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4"/>
  </p:sldMasterIdLst>
  <p:notesMasterIdLst>
    <p:notesMasterId r:id="rId8"/>
  </p:notesMasterIdLst>
  <p:sldIdLst>
    <p:sldId id="257" r:id="rId5"/>
    <p:sldId id="258" r:id="rId6"/>
    <p:sldId id="259" r:id="rId7"/>
  </p:sldIdLst>
  <p:sldSz cx="9144000" cy="5143500" type="screen16x9"/>
  <p:notesSz cx="6858000" cy="9144000"/>
  <p:embeddedFontLst>
    <p:embeddedFont>
      <p:font typeface="Manrope" charset="0"/>
      <p:regular r:id="rId9"/>
      <p:bold r:id="rId1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204" userDrawn="1">
          <p15:clr>
            <a:srgbClr val="747775"/>
          </p15:clr>
        </p15:guide>
        <p15:guide id="2" pos="5564">
          <p15:clr>
            <a:srgbClr val="747775"/>
          </p15:clr>
        </p15:guide>
        <p15:guide id="3" orient="horz" pos="426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4F5C"/>
    <a:srgbClr val="436E99"/>
    <a:srgbClr val="DCC086"/>
    <a:srgbClr val="01274F"/>
    <a:srgbClr val="1EA89B"/>
    <a:srgbClr val="D7E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2C17D90-5EDD-40C1-A788-3ED6A1A31342}">
  <a:tblStyle styleId="{E2C17D90-5EDD-40C1-A788-3ED6A1A3134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61" autoAdjust="0"/>
    <p:restoredTop sz="94681"/>
  </p:normalViewPr>
  <p:slideViewPr>
    <p:cSldViewPr snapToGrid="0">
      <p:cViewPr varScale="1">
        <p:scale>
          <a:sx n="133" d="100"/>
          <a:sy n="133" d="100"/>
        </p:scale>
        <p:origin x="678" y="126"/>
      </p:cViewPr>
      <p:guideLst>
        <p:guide pos="204"/>
        <p:guide pos="5564"/>
        <p:guide orient="horz" pos="42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notesMaster" Target="notesMasters/notesMaster1.xml"/><Relationship Id="rId9" Type="http://schemas.openxmlformats.org/officeDocument/2006/relationships/font" Target="fonts/font1.fntdata"/><Relationship Id="rId10" Type="http://schemas.openxmlformats.org/officeDocument/2006/relationships/font" Target="fonts/font2.fntdata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1"/>
          <c:order val="0"/>
          <c:tx>
            <c:strRef>
              <c:f>Sheet1!$B$4</c:f>
              <c:strCache>
                <c:ptCount val="1"/>
                <c:pt idx="0">
                  <c:v>Market size (US$bn)</c:v>
                </c:pt>
              </c:strCache>
            </c:strRef>
          </c:tx>
          <c:spPr>
            <a:solidFill>
              <a:srgbClr val="01274E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chemeClr val="bg1"/>
                    </a:solidFill>
                    <a:latin typeface="Manrope" pitchFamily="2" charset="0"/>
                    <a:ea typeface="+mn-ea"/>
                    <a:cs typeface="+mn-cs"/>
                  </a:defRPr>
                </a:pPr>
                <a:endParaRPr lang="en-VN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Sheet1!$C$2:$G$2</c:f>
              <c:numCache>
                <c:formatCode>General</c:formatCode>
                <c:ptCount val="5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</c:numCache>
            </c:numRef>
          </c:cat>
          <c:val>
            <c:numRef>
              <c:f>Sheet1!$C$4:$G$4</c:f>
              <c:numCache>
                <c:formatCode>_(* #,##0.0_);_(* \(#,##0.0\);_(* "-"_);_(@_)</c:formatCode>
                <c:ptCount val="5"/>
                <c:pt idx="0">
                  <c:v>16.100000000000001</c:v>
                </c:pt>
                <c:pt idx="1">
                  <c:v>17.66009</c:v>
                </c:pt>
                <c:pt idx="2">
                  <c:v>19.371352721000001</c:v>
                </c:pt>
                <c:pt idx="3">
                  <c:v>21.248436799664901</c:v>
                </c:pt>
                <c:pt idx="4">
                  <c:v>23.307410325552429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779-E749-89D0-D0AE65209F6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41"/>
        <c:axId val="820053456"/>
        <c:axId val="820055168"/>
      </c:barChart>
      <c:catAx>
        <c:axId val="8200534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VN"/>
          </a:p>
        </c:txPr>
        <c:crossAx val="820055168"/>
        <c:crosses val="autoZero"/>
        <c:auto val="1"/>
        <c:lblAlgn val="ctr"/>
        <c:lblOffset val="100"/>
        <c:noMultiLvlLbl val="0"/>
      </c:catAx>
      <c:valAx>
        <c:axId val="820055168"/>
        <c:scaling>
          <c:orientation val="minMax"/>
        </c:scaling>
        <c:delete val="1"/>
        <c:axPos val="l"/>
        <c:numFmt formatCode="_(* #,##0.0_);_(* \(#,##0.0\);_(* &quot;-&quot;_);_(@_)" sourceLinked="1"/>
        <c:majorTickMark val="none"/>
        <c:minorTickMark val="none"/>
        <c:tickLblPos val="nextTo"/>
        <c:crossAx val="8200534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VN"/>
    </a:p>
  </c:txPr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5b2d24ff4e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5b2d24ff4e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Generate a flan recipe for the 2</a:t>
            </a:r>
            <a:r>
              <a:rPr lang="en-US" baseline="30000"/>
              <a:t>nd</a:t>
            </a:r>
            <a:r>
              <a:rPr lang="en-US"/>
              <a:t> column</a:t>
            </a: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5d80bea48c_2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5d80bea48c_2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/>
              <a:t>Keep this content: :”</a:t>
            </a:r>
            <a:r>
              <a:rPr lang="en-US" sz="1100" b="1">
                <a:solidFill>
                  <a:srgbClr val="01284F"/>
                </a:solidFill>
                <a:latin typeface="Manrope"/>
                <a:ea typeface="Manrope"/>
                <a:cs typeface="Manrope"/>
                <a:sym typeface="Manrope"/>
              </a:rPr>
              <a:t> Ecommerce is still on the rise”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5d5f73c21f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5d5f73c21f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chart" Target="../charts/chart1.xml"/><Relationship Id="rId5" Type="http://schemas.openxmlformats.org/officeDocument/2006/relationships/image" Target="../media/image6.jpe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/>
          <p:nvPr/>
        </p:nvSpPr>
        <p:spPr>
          <a:xfrm>
            <a:off x="335150" y="3994575"/>
            <a:ext cx="8497200" cy="199800"/>
          </a:xfrm>
          <a:prstGeom prst="chevron">
            <a:avLst>
              <a:gd name="adj" fmla="val 50000"/>
            </a:avLst>
          </a:prstGeom>
          <a:gradFill>
            <a:gsLst>
              <a:gs pos="0">
                <a:srgbClr val="D6EBFF"/>
              </a:gs>
              <a:gs pos="100000">
                <a:schemeClr val="lt1"/>
              </a:gs>
            </a:gsLst>
            <a:lin ang="10800025" scaled="0"/>
          </a:gra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5" name="Google Shape;65;p14" descr="a310a495-6adf-46bb-bc91-62a7bb8564e2"/>
          <p:cNvSpPr txBox="1">
            <a:spLocks noGrp="1"/>
          </p:cNvSpPr>
          <p:nvPr>
            <p:ph type="title"/>
          </p:nvPr>
        </p:nvSpPr>
        <p:spPr>
          <a:xfrm>
            <a:off x="311700" y="428950"/>
            <a:ext cx="8520600" cy="4053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300" b="1" dirty="0">
                <a:solidFill>
                  <a:srgbClr val="01284F"/>
                </a:solidFill>
                <a:latin typeface="Manrope"/>
                <a:ea typeface="Manrope"/>
                <a:cs typeface="Manrope"/>
                <a:sym typeface="Manrope"/>
              </a:rPr>
              <a:t>A decade of innovation, growth with digital frontier</a:t>
            </a:r>
            <a:endParaRPr sz="1300" b="1" dirty="0">
              <a:solidFill>
                <a:srgbClr val="01284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6" name="Google Shape;66;p14" descr="4a95b789-466d-428e-8f59-cb48eabe6bbc"/>
          <p:cNvSpPr txBox="1">
            <a:spLocks noGrp="1"/>
          </p:cNvSpPr>
          <p:nvPr>
            <p:ph type="title"/>
          </p:nvPr>
        </p:nvSpPr>
        <p:spPr>
          <a:xfrm>
            <a:off x="311700" y="728817"/>
            <a:ext cx="8520600" cy="4053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n-GB" sz="1100" i="1" dirty="0">
                <a:latin typeface="Manrope"/>
                <a:ea typeface="Manrope"/>
                <a:cs typeface="Manrope"/>
                <a:sym typeface="Manrope"/>
              </a:rPr>
              <a:t>The comprehensive suite of marketing and branding solutions with cultural depth and digital leadership</a:t>
            </a:r>
            <a:endParaRPr sz="1100" i="1" dirty="0">
              <a:latin typeface="Manrope"/>
              <a:ea typeface="Manrope"/>
              <a:cs typeface="Manrope"/>
              <a:sym typeface="Manrope"/>
            </a:endParaRPr>
          </a:p>
        </p:txBody>
      </p:sp>
      <p:cxnSp>
        <p:nvCxnSpPr>
          <p:cNvPr id="72" name="Google Shape;72;p14"/>
          <p:cNvCxnSpPr>
            <a:stCxn id="73" idx="1"/>
          </p:cNvCxnSpPr>
          <p:nvPr/>
        </p:nvCxnSpPr>
        <p:spPr>
          <a:xfrm>
            <a:off x="2499263" y="1665329"/>
            <a:ext cx="0" cy="2429400"/>
          </a:xfrm>
          <a:prstGeom prst="straightConnector1">
            <a:avLst/>
          </a:prstGeom>
          <a:noFill/>
          <a:ln w="9525" cap="flat" cmpd="sng">
            <a:solidFill>
              <a:srgbClr val="436E9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4" name="Google Shape;74;p14"/>
          <p:cNvCxnSpPr>
            <a:stCxn id="75" idx="1"/>
          </p:cNvCxnSpPr>
          <p:nvPr/>
        </p:nvCxnSpPr>
        <p:spPr>
          <a:xfrm>
            <a:off x="6874400" y="1295804"/>
            <a:ext cx="0" cy="2797200"/>
          </a:xfrm>
          <a:prstGeom prst="straightConnector1">
            <a:avLst/>
          </a:prstGeom>
          <a:noFill/>
          <a:ln w="9525" cap="flat" cmpd="sng">
            <a:solidFill>
              <a:srgbClr val="FFF0C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6" name="Google Shape;76;p14"/>
          <p:cNvCxnSpPr>
            <a:stCxn id="77" idx="1"/>
          </p:cNvCxnSpPr>
          <p:nvPr/>
        </p:nvCxnSpPr>
        <p:spPr>
          <a:xfrm>
            <a:off x="4686838" y="1484579"/>
            <a:ext cx="0" cy="2639700"/>
          </a:xfrm>
          <a:prstGeom prst="straightConnector1">
            <a:avLst/>
          </a:prstGeom>
          <a:noFill/>
          <a:ln w="9525" cap="flat" cmpd="sng">
            <a:solidFill>
              <a:srgbClr val="DBC086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9" name="Google Shape;7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65375" y="197625"/>
            <a:ext cx="666925" cy="6669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0" name="Google Shape;80;p14"/>
          <p:cNvCxnSpPr>
            <a:stCxn id="81" idx="1"/>
          </p:cNvCxnSpPr>
          <p:nvPr/>
        </p:nvCxnSpPr>
        <p:spPr>
          <a:xfrm>
            <a:off x="311700" y="1867804"/>
            <a:ext cx="0" cy="2224500"/>
          </a:xfrm>
          <a:prstGeom prst="straightConnector1">
            <a:avLst/>
          </a:prstGeom>
          <a:noFill/>
          <a:ln w="9525" cap="flat" cmpd="sng">
            <a:solidFill>
              <a:srgbClr val="01284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2" name="Google Shape;82;p14"/>
          <p:cNvSpPr/>
          <p:nvPr/>
        </p:nvSpPr>
        <p:spPr>
          <a:xfrm>
            <a:off x="311700" y="3840675"/>
            <a:ext cx="507600" cy="507600"/>
          </a:xfrm>
          <a:prstGeom prst="ellipse">
            <a:avLst/>
          </a:prstGeom>
          <a:solidFill>
            <a:srgbClr val="01284F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b="1"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3" name="Google Shape;83;p14"/>
          <p:cNvSpPr/>
          <p:nvPr/>
        </p:nvSpPr>
        <p:spPr>
          <a:xfrm>
            <a:off x="2499275" y="3840675"/>
            <a:ext cx="507600" cy="507600"/>
          </a:xfrm>
          <a:prstGeom prst="ellipse">
            <a:avLst/>
          </a:prstGeom>
          <a:solidFill>
            <a:srgbClr val="436E99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4" name="Google Shape;84;p14"/>
          <p:cNvSpPr/>
          <p:nvPr/>
        </p:nvSpPr>
        <p:spPr>
          <a:xfrm>
            <a:off x="4686838" y="3840675"/>
            <a:ext cx="507600" cy="507600"/>
          </a:xfrm>
          <a:prstGeom prst="ellipse">
            <a:avLst/>
          </a:prstGeom>
          <a:solidFill>
            <a:srgbClr val="DBC086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5" name="Google Shape;85;p14"/>
          <p:cNvSpPr/>
          <p:nvPr/>
        </p:nvSpPr>
        <p:spPr>
          <a:xfrm>
            <a:off x="6874425" y="3840675"/>
            <a:ext cx="507600" cy="507600"/>
          </a:xfrm>
          <a:prstGeom prst="ellipse">
            <a:avLst/>
          </a:prstGeom>
          <a:solidFill>
            <a:srgbClr val="FFF0CF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1" name="Google Shape;81;p14" descr="6b473895-54a9-4321-8da9-69236910d91e"/>
          <p:cNvSpPr/>
          <p:nvPr/>
        </p:nvSpPr>
        <p:spPr>
          <a:xfrm>
            <a:off x="311700" y="1706104"/>
            <a:ext cx="1950600" cy="323400"/>
          </a:xfrm>
          <a:prstGeom prst="roundRect">
            <a:avLst>
              <a:gd name="adj" fmla="val 19287"/>
            </a:avLst>
          </a:prstGeom>
          <a:solidFill>
            <a:srgbClr val="01284F"/>
          </a:solidFill>
          <a:ln w="9525" cap="flat" cmpd="sng">
            <a:solidFill>
              <a:srgbClr val="012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dirty="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Founding vision &amp; inception</a:t>
            </a:r>
            <a:endParaRPr sz="900" b="1" dirty="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6" name="Google Shape;86;p14" descr="c1cc0874-aed2-46a0-bb90-724e25792051"/>
          <p:cNvSpPr/>
          <p:nvPr/>
        </p:nvSpPr>
        <p:spPr>
          <a:xfrm>
            <a:off x="311700" y="2065840"/>
            <a:ext cx="1950600" cy="17388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9999" lvl="0" indent="-147149" algn="l" rtl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SzPts val="900"/>
              <a:buFont typeface="Manrope"/>
              <a:buChar char="●"/>
            </a:pPr>
            <a:r>
              <a:rPr lang="en-GB" sz="900">
                <a:latin typeface="Manrope"/>
                <a:ea typeface="Manrope"/>
                <a:cs typeface="Manrope"/>
                <a:sym typeface="Manrope"/>
              </a:rPr>
              <a:t>&lt;i&gt; use the content of this component, don’t change.</a:t>
            </a:r>
          </a:p>
          <a:p>
            <a:pPr marL="179999" lvl="0" indent="-147149" algn="l" rtl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SzPts val="900"/>
              <a:buFont typeface="Manrope"/>
              <a:buChar char="●"/>
            </a:pPr>
            <a:r>
              <a:rPr lang="en-GB" sz="900">
                <a:latin typeface="Manrope"/>
                <a:ea typeface="Manrope"/>
                <a:cs typeface="Manrope"/>
                <a:sym typeface="Manrope"/>
              </a:rPr>
              <a:t>Founded </a:t>
            </a:r>
            <a:r>
              <a:rPr lang="en-GB" sz="900" dirty="0">
                <a:latin typeface="Manrope"/>
                <a:ea typeface="Manrope"/>
                <a:cs typeface="Manrope"/>
                <a:sym typeface="Manrope"/>
              </a:rPr>
              <a:t>in 2015 with the mission of “sharing </a:t>
            </a:r>
            <a:r>
              <a:rPr lang="en-GB" sz="900" dirty="0" err="1">
                <a:latin typeface="Manrope"/>
                <a:ea typeface="Manrope"/>
                <a:cs typeface="Manrope"/>
                <a:sym typeface="Manrope"/>
              </a:rPr>
              <a:t>happyness</a:t>
            </a:r>
            <a:r>
              <a:rPr lang="en-GB" sz="900" dirty="0">
                <a:latin typeface="Manrope"/>
                <a:ea typeface="Manrope"/>
                <a:cs typeface="Manrope"/>
                <a:sym typeface="Manrope"/>
              </a:rPr>
              <a:t>” as a digital and creative partner</a:t>
            </a:r>
            <a:endParaRPr sz="900" dirty="0">
              <a:latin typeface="Manrope"/>
              <a:ea typeface="Manrope"/>
              <a:cs typeface="Manrope"/>
              <a:sym typeface="Manrope"/>
            </a:endParaRPr>
          </a:p>
          <a:p>
            <a:pPr marL="179999" lvl="0" indent="-147149" algn="l" rtl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SzPts val="900"/>
              <a:buFont typeface="Manrope"/>
              <a:buChar char="●"/>
            </a:pPr>
            <a:r>
              <a:rPr lang="en-GB" sz="900" dirty="0">
                <a:latin typeface="Manrope"/>
                <a:ea typeface="Manrope"/>
                <a:cs typeface="Manrope"/>
                <a:sym typeface="Manrope"/>
              </a:rPr>
              <a:t>Emphasized a deep understanding of Vietnamese culture with the embedded digital frontier</a:t>
            </a:r>
            <a:endParaRPr sz="900"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73" name="Google Shape;73;p14" descr="4ea4681c-69d0-4ed8-ab79-26d54fb3a94e"/>
          <p:cNvSpPr/>
          <p:nvPr/>
        </p:nvSpPr>
        <p:spPr>
          <a:xfrm>
            <a:off x="2499263" y="1503629"/>
            <a:ext cx="1950600" cy="323400"/>
          </a:xfrm>
          <a:prstGeom prst="roundRect">
            <a:avLst>
              <a:gd name="adj" fmla="val 19287"/>
            </a:avLst>
          </a:prstGeom>
          <a:solidFill>
            <a:srgbClr val="436E99"/>
          </a:solidFill>
          <a:ln w="9525" cap="flat" cmpd="sng">
            <a:solidFill>
              <a:srgbClr val="436E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dirty="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Introduction of the XPhin Model</a:t>
            </a:r>
            <a:endParaRPr sz="900" b="1" dirty="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7" name="Google Shape;87;p14" descr="5202ee4e-11bd-45ab-acc5-12ca4dc626c2"/>
          <p:cNvSpPr/>
          <p:nvPr/>
        </p:nvSpPr>
        <p:spPr>
          <a:xfrm>
            <a:off x="2499267" y="1843518"/>
            <a:ext cx="1950600" cy="19608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9999" lvl="0" indent="-147149" algn="l" rtl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SzPts val="900"/>
              <a:buFont typeface="Manrope"/>
              <a:buChar char="●"/>
            </a:pPr>
            <a:r>
              <a:rPr lang="en-GB" sz="900">
                <a:latin typeface="Manrope"/>
                <a:ea typeface="Manrope"/>
                <a:cs typeface="Manrope"/>
                <a:sym typeface="Manrope"/>
              </a:rPr>
              <a:t>2</a:t>
            </a:r>
            <a:r>
              <a:rPr lang="en-GB" sz="900" baseline="30000">
                <a:latin typeface="Manrope"/>
                <a:ea typeface="Manrope"/>
                <a:cs typeface="Manrope"/>
                <a:sym typeface="Manrope"/>
              </a:rPr>
              <a:t>nd</a:t>
            </a:r>
            <a:r>
              <a:rPr lang="en-GB" sz="900">
                <a:latin typeface="Manrope"/>
                <a:ea typeface="Manrope"/>
                <a:cs typeface="Manrope"/>
                <a:sym typeface="Manrope"/>
              </a:rPr>
              <a:t> column</a:t>
            </a:r>
          </a:p>
          <a:p>
            <a:pPr marL="179999" lvl="0" indent="-147149" algn="l" rtl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SzPts val="900"/>
              <a:buFont typeface="Manrope"/>
              <a:buChar char="●"/>
            </a:pPr>
            <a:r>
              <a:rPr lang="en-GB" sz="900">
                <a:latin typeface="Manrope"/>
                <a:ea typeface="Manrope"/>
                <a:cs typeface="Manrope"/>
                <a:sym typeface="Manrope"/>
              </a:rPr>
              <a:t>Developed </a:t>
            </a:r>
            <a:r>
              <a:rPr lang="en-GB" sz="900" dirty="0">
                <a:latin typeface="Manrope"/>
                <a:ea typeface="Manrope"/>
                <a:cs typeface="Manrope"/>
                <a:sym typeface="Manrope"/>
              </a:rPr>
              <a:t>the proprietary XPhin Model, a strategic and creative planning framework inspired by the Vietnamese phin coffee filter, symbolizing a meticulous and culturally grounded approach to campaign development</a:t>
            </a:r>
            <a:endParaRPr sz="900"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77" name="Google Shape;77;p14" descr="57b72d04-46e0-4234-80ae-515e2a47d0b1"/>
          <p:cNvSpPr/>
          <p:nvPr/>
        </p:nvSpPr>
        <p:spPr>
          <a:xfrm>
            <a:off x="4686838" y="1322879"/>
            <a:ext cx="1950600" cy="323400"/>
          </a:xfrm>
          <a:prstGeom prst="roundRect">
            <a:avLst>
              <a:gd name="adj" fmla="val 19287"/>
            </a:avLst>
          </a:prstGeom>
          <a:solidFill>
            <a:srgbClr val="DCC086"/>
          </a:solidFill>
          <a:ln w="9525" cap="flat" cmpd="sng">
            <a:solidFill>
              <a:srgbClr val="DBC08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dirty="0">
                <a:latin typeface="Manrope"/>
                <a:ea typeface="Manrope"/>
                <a:cs typeface="Manrope"/>
                <a:sym typeface="Manrope"/>
              </a:rPr>
              <a:t>Expansion of services &amp; client base</a:t>
            </a:r>
            <a:endParaRPr sz="900" b="1"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8" name="Google Shape;88;p14" descr="19f17175-d1e4-4402-bf7a-cac1e6411d20"/>
          <p:cNvSpPr/>
          <p:nvPr/>
        </p:nvSpPr>
        <p:spPr>
          <a:xfrm>
            <a:off x="4686833" y="1662678"/>
            <a:ext cx="1950600" cy="21417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9999" lvl="0" indent="-147149" algn="l" rtl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SzPts val="900"/>
              <a:buFont typeface="Manrope"/>
              <a:buChar char="●"/>
            </a:pPr>
            <a:r>
              <a:rPr lang="en-GB" sz="900" dirty="0">
                <a:latin typeface="Manrope"/>
                <a:ea typeface="Manrope"/>
                <a:cs typeface="Manrope"/>
                <a:sym typeface="Manrope"/>
              </a:rPr>
              <a:t>Expanded to a comprehensive service suite: creative solutions, 360 digital performance, social management, influence hacking</a:t>
            </a:r>
            <a:endParaRPr sz="900" dirty="0">
              <a:latin typeface="Manrope"/>
              <a:ea typeface="Manrope"/>
              <a:cs typeface="Manrope"/>
              <a:sym typeface="Manrope"/>
            </a:endParaRPr>
          </a:p>
          <a:p>
            <a:pPr marL="179999" lvl="0" indent="-147149" algn="l" rtl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SzPts val="900"/>
              <a:buFont typeface="Manrope"/>
              <a:buChar char="●"/>
            </a:pPr>
            <a:r>
              <a:rPr lang="en-GB" sz="900" dirty="0">
                <a:latin typeface="Manrope"/>
                <a:ea typeface="Manrope"/>
                <a:cs typeface="Manrope"/>
                <a:sym typeface="Manrope"/>
              </a:rPr>
              <a:t>Collaborated with 100+ clients and 500+ projects across various industries</a:t>
            </a:r>
            <a:endParaRPr sz="900"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75" name="Google Shape;75;p14" descr="37f053f5-eb49-4533-b7f2-95a77f124c59"/>
          <p:cNvSpPr/>
          <p:nvPr/>
        </p:nvSpPr>
        <p:spPr>
          <a:xfrm>
            <a:off x="6874400" y="1134104"/>
            <a:ext cx="1950600" cy="323400"/>
          </a:xfrm>
          <a:prstGeom prst="roundRect">
            <a:avLst>
              <a:gd name="adj" fmla="val 19287"/>
            </a:avLst>
          </a:prstGeom>
          <a:solidFill>
            <a:srgbClr val="FEF1CF"/>
          </a:solidFill>
          <a:ln w="9525" cap="flat" cmpd="sng">
            <a:solidFill>
              <a:srgbClr val="FFF0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dirty="0">
                <a:latin typeface="Manrope"/>
                <a:ea typeface="Manrope"/>
                <a:cs typeface="Manrope"/>
                <a:sym typeface="Manrope"/>
              </a:rPr>
              <a:t>Launch of Xanh &amp; Partners</a:t>
            </a:r>
            <a:endParaRPr sz="900" b="1"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9" name="Google Shape;89;p14" descr="afa7c7b6-6dc0-4d14-a4b5-4b6037c392cb"/>
          <p:cNvSpPr/>
          <p:nvPr/>
        </p:nvSpPr>
        <p:spPr>
          <a:xfrm>
            <a:off x="6874400" y="1482866"/>
            <a:ext cx="1950600" cy="23214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9999" lvl="0" indent="-147149" algn="l" rtl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SzPts val="900"/>
              <a:buFont typeface="Manrope"/>
              <a:buChar char="●"/>
            </a:pPr>
            <a:r>
              <a:rPr lang="en-GB" sz="900" dirty="0">
                <a:latin typeface="Manrope"/>
                <a:ea typeface="Manrope"/>
                <a:cs typeface="Manrope"/>
                <a:sym typeface="Manrope"/>
              </a:rPr>
              <a:t>Introduced the end-to-end integrated solutions comprising:</a:t>
            </a:r>
            <a:endParaRPr sz="900"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0" name="Google Shape;90;p14"/>
          <p:cNvSpPr/>
          <p:nvPr/>
        </p:nvSpPr>
        <p:spPr>
          <a:xfrm>
            <a:off x="158100" y="3907725"/>
            <a:ext cx="814800" cy="36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2015</a:t>
            </a:r>
            <a:endParaRPr sz="900" dirty="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1" name="Google Shape;91;p14"/>
          <p:cNvSpPr/>
          <p:nvPr/>
        </p:nvSpPr>
        <p:spPr>
          <a:xfrm>
            <a:off x="2345667" y="3907725"/>
            <a:ext cx="814800" cy="36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2019</a:t>
            </a:r>
            <a:endParaRPr sz="900" dirty="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2" name="Google Shape;92;p14"/>
          <p:cNvSpPr/>
          <p:nvPr/>
        </p:nvSpPr>
        <p:spPr>
          <a:xfrm>
            <a:off x="4533258" y="3907725"/>
            <a:ext cx="814800" cy="36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latin typeface="Manrope"/>
                <a:ea typeface="Manrope"/>
                <a:cs typeface="Manrope"/>
                <a:sym typeface="Manrope"/>
              </a:rPr>
              <a:t>2020</a:t>
            </a:r>
            <a:endParaRPr sz="900"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3" name="Google Shape;93;p14"/>
          <p:cNvSpPr/>
          <p:nvPr/>
        </p:nvSpPr>
        <p:spPr>
          <a:xfrm>
            <a:off x="6720825" y="3907725"/>
            <a:ext cx="814800" cy="36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latin typeface="Manrope"/>
                <a:ea typeface="Manrope"/>
                <a:cs typeface="Manrope"/>
                <a:sym typeface="Manrope"/>
              </a:rPr>
              <a:t>2023</a:t>
            </a:r>
            <a:endParaRPr sz="900" dirty="0"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94" name="Google Shape;9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37805" y="3230940"/>
            <a:ext cx="1073524" cy="604038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17575" y="2128229"/>
            <a:ext cx="364450" cy="36445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/>
          <p:nvPr/>
        </p:nvSpPr>
        <p:spPr>
          <a:xfrm>
            <a:off x="7017575" y="3241967"/>
            <a:ext cx="730800" cy="364500"/>
          </a:xfrm>
          <a:prstGeom prst="rect">
            <a:avLst/>
          </a:prstGeom>
          <a:solidFill>
            <a:srgbClr val="DBC08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97" name="Google Shape;97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017575" y="2693441"/>
            <a:ext cx="364451" cy="364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049500" y="3336666"/>
            <a:ext cx="666926" cy="155007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 descr="9ba1cbf7-b3ee-46e6-a1b6-fda970a51a10"/>
          <p:cNvSpPr/>
          <p:nvPr/>
        </p:nvSpPr>
        <p:spPr>
          <a:xfrm>
            <a:off x="7343339" y="2127242"/>
            <a:ext cx="1371600" cy="364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dirty="0">
                <a:latin typeface="Manrope"/>
                <a:ea typeface="Manrope"/>
                <a:cs typeface="Manrope"/>
                <a:sym typeface="Manrope"/>
              </a:rPr>
              <a:t>Social-tainment marketing</a:t>
            </a:r>
            <a:endParaRPr sz="700"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00" name="Google Shape;100;p14" descr="67a3a366-cd32-4bf0-b2f1-35549320d750"/>
          <p:cNvSpPr/>
          <p:nvPr/>
        </p:nvSpPr>
        <p:spPr>
          <a:xfrm>
            <a:off x="7343339" y="2678067"/>
            <a:ext cx="1371600" cy="364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dirty="0">
                <a:latin typeface="Manrope"/>
                <a:ea typeface="Manrope"/>
                <a:cs typeface="Manrope"/>
                <a:sym typeface="Manrope"/>
              </a:rPr>
              <a:t>Ecommerce enablement and solutions</a:t>
            </a:r>
            <a:endParaRPr sz="700"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01" name="Google Shape;101;p14" descr="cdd88e71-6920-4956-96dd-879d693c70b0"/>
          <p:cNvSpPr/>
          <p:nvPr/>
        </p:nvSpPr>
        <p:spPr>
          <a:xfrm>
            <a:off x="7705290" y="3228892"/>
            <a:ext cx="1053300" cy="364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dirty="0">
                <a:latin typeface="Manrope"/>
                <a:ea typeface="Manrope"/>
                <a:cs typeface="Manrope"/>
                <a:sym typeface="Manrope"/>
              </a:rPr>
              <a:t>Creative production house</a:t>
            </a:r>
            <a:endParaRPr sz="700" dirty="0"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 descr="6466bba7-f4dc-4579-b82a-4b328202834e"/>
          <p:cNvSpPr txBox="1">
            <a:spLocks noGrp="1"/>
          </p:cNvSpPr>
          <p:nvPr>
            <p:ph type="title"/>
          </p:nvPr>
        </p:nvSpPr>
        <p:spPr>
          <a:xfrm>
            <a:off x="311700" y="428950"/>
            <a:ext cx="8520600" cy="4053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300" b="1" dirty="0">
                <a:solidFill>
                  <a:srgbClr val="01284F"/>
                </a:solidFill>
                <a:latin typeface="Manrope"/>
                <a:ea typeface="Manrope"/>
                <a:cs typeface="Manrope"/>
                <a:sym typeface="Manrope"/>
              </a:rPr>
              <a:t>Vietnam’s ecommerce and social commerce boom - a digital gold rush</a:t>
            </a:r>
            <a:endParaRPr sz="1300" b="1" dirty="0">
              <a:solidFill>
                <a:srgbClr val="01284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08" name="Google Shape;108;p15" descr="84e119bd-f21b-436f-9ce7-d8a737c3d26e"/>
          <p:cNvSpPr txBox="1">
            <a:spLocks noGrp="1"/>
          </p:cNvSpPr>
          <p:nvPr>
            <p:ph type="title"/>
          </p:nvPr>
        </p:nvSpPr>
        <p:spPr>
          <a:xfrm>
            <a:off x="311700" y="675900"/>
            <a:ext cx="8520600" cy="4053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n-GB" sz="1100" i="1" dirty="0">
                <a:latin typeface="Manrope"/>
                <a:ea typeface="Manrope"/>
                <a:cs typeface="Manrope"/>
                <a:sym typeface="Manrope"/>
              </a:rPr>
              <a:t>Riding the next wave of digital commerce: platforms, creators, and social engagement</a:t>
            </a:r>
            <a:endParaRPr sz="1100" i="1" dirty="0"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15" name="Google Shape;11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65375" y="197625"/>
            <a:ext cx="666925" cy="66692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 descr="77c5c867-9038-45f9-8bdf-8dcca38d3511"/>
          <p:cNvSpPr/>
          <p:nvPr/>
        </p:nvSpPr>
        <p:spPr>
          <a:xfrm>
            <a:off x="311700" y="1044807"/>
            <a:ext cx="41601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1">
                <a:solidFill>
                  <a:srgbClr val="01284F"/>
                </a:solidFill>
                <a:latin typeface="Manrope"/>
                <a:ea typeface="Manrope"/>
                <a:cs typeface="Manrope"/>
                <a:sym typeface="Manrope"/>
              </a:rPr>
              <a:t>&lt;i&gt;Keep this “Ecommerce </a:t>
            </a:r>
            <a:r>
              <a:rPr lang="en-GB" sz="1100" b="1" dirty="0">
                <a:solidFill>
                  <a:srgbClr val="01284F"/>
                </a:solidFill>
                <a:latin typeface="Manrope"/>
                <a:ea typeface="Manrope"/>
                <a:cs typeface="Manrope"/>
                <a:sym typeface="Manrope"/>
              </a:rPr>
              <a:t>is still on </a:t>
            </a:r>
            <a:r>
              <a:rPr lang="en-GB" sz="1100" b="1">
                <a:solidFill>
                  <a:srgbClr val="01284F"/>
                </a:solidFill>
                <a:latin typeface="Manrope"/>
                <a:ea typeface="Manrope"/>
                <a:cs typeface="Manrope"/>
                <a:sym typeface="Manrope"/>
              </a:rPr>
              <a:t>the rise”</a:t>
            </a:r>
            <a:endParaRPr sz="1100" b="1" dirty="0">
              <a:solidFill>
                <a:srgbClr val="01284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cxnSp>
        <p:nvCxnSpPr>
          <p:cNvPr id="118" name="Google Shape;118;p15"/>
          <p:cNvCxnSpPr>
            <a:cxnSpLocks/>
          </p:cNvCxnSpPr>
          <p:nvPr/>
        </p:nvCxnSpPr>
        <p:spPr>
          <a:xfrm>
            <a:off x="311700" y="1387944"/>
            <a:ext cx="8521150" cy="0"/>
          </a:xfrm>
          <a:prstGeom prst="straightConnector1">
            <a:avLst/>
          </a:prstGeom>
          <a:noFill/>
          <a:ln w="9525" cap="flat" cmpd="sng">
            <a:solidFill>
              <a:srgbClr val="01274F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2" name="Chart 1" descr="f9c5a123-dfd6-402c-ad6d-4cc9878eda13">
            <a:extLst>
              <a:ext uri="{FF2B5EF4-FFF2-40B4-BE49-F238E27FC236}">
                <a16:creationId xmlns:a16="http://schemas.microsoft.com/office/drawing/2014/main" id="{D245827F-10B9-5075-451F-B8DED91A444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7393232"/>
              </p:ext>
            </p:extLst>
          </p:nvPr>
        </p:nvGraphicFramePr>
        <p:xfrm>
          <a:off x="318999" y="1913654"/>
          <a:ext cx="4918019" cy="18646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6" name="Google Shape;117;p15" descr="1853b830-c16f-4504-9060-f1e1a7428de5">
            <a:extLst>
              <a:ext uri="{FF2B5EF4-FFF2-40B4-BE49-F238E27FC236}">
                <a16:creationId xmlns:a16="http://schemas.microsoft.com/office/drawing/2014/main" id="{62D8C9C6-FB03-D940-2B18-7D56A56ADEFE}"/>
              </a:ext>
            </a:extLst>
          </p:cNvPr>
          <p:cNvSpPr/>
          <p:nvPr/>
        </p:nvSpPr>
        <p:spPr>
          <a:xfrm>
            <a:off x="311700" y="1436607"/>
            <a:ext cx="3225000" cy="152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chemeClr val="tx1"/>
                </a:solidFill>
                <a:latin typeface="Manrope"/>
                <a:ea typeface="Manrope"/>
                <a:cs typeface="Manrope"/>
                <a:sym typeface="Manrope"/>
              </a:rPr>
              <a:t>&lt;i&gt; Vietnam’s </a:t>
            </a:r>
            <a:r>
              <a:rPr lang="en-GB" sz="700" dirty="0">
                <a:solidFill>
                  <a:schemeClr val="tx1"/>
                </a:solidFill>
                <a:latin typeface="Manrope"/>
                <a:ea typeface="Manrope"/>
                <a:cs typeface="Manrope"/>
                <a:sym typeface="Manrope"/>
              </a:rPr>
              <a:t>ecommerce industry, </a:t>
            </a:r>
            <a:r>
              <a:rPr lang="en-GB" sz="700" dirty="0" err="1">
                <a:solidFill>
                  <a:schemeClr val="tx1"/>
                </a:solidFill>
                <a:latin typeface="Manrope"/>
                <a:ea typeface="Manrope"/>
                <a:cs typeface="Manrope"/>
                <a:sym typeface="Manrope"/>
              </a:rPr>
              <a:t>US$bn</a:t>
            </a:r>
            <a:endParaRPr sz="700" dirty="0">
              <a:solidFill>
                <a:schemeClr val="tx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9" name="Google Shape;81;p14" descr="a271d12a-9032-43a8-8bea-450d78b827bd">
            <a:extLst>
              <a:ext uri="{FF2B5EF4-FFF2-40B4-BE49-F238E27FC236}">
                <a16:creationId xmlns:a16="http://schemas.microsoft.com/office/drawing/2014/main" id="{0BB0DD2E-3D46-1319-85E9-721A8BD6754F}"/>
              </a:ext>
            </a:extLst>
          </p:cNvPr>
          <p:cNvSpPr/>
          <p:nvPr/>
        </p:nvSpPr>
        <p:spPr>
          <a:xfrm>
            <a:off x="5452171" y="1594034"/>
            <a:ext cx="3380679" cy="161700"/>
          </a:xfrm>
          <a:prstGeom prst="roundRect">
            <a:avLst>
              <a:gd name="adj" fmla="val 19287"/>
            </a:avLst>
          </a:prstGeom>
          <a:solidFill>
            <a:srgbClr val="01284F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dirty="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Key drivers</a:t>
            </a:r>
            <a:endParaRPr sz="900" b="1" dirty="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9" name="Google Shape;125;p15" descr="988d672a-ffff-45c5-b217-7f0c35ef80a5">
            <a:extLst>
              <a:ext uri="{FF2B5EF4-FFF2-40B4-BE49-F238E27FC236}">
                <a16:creationId xmlns:a16="http://schemas.microsoft.com/office/drawing/2014/main" id="{D7575F91-11CC-1144-7A08-EB8DC57327A9}"/>
              </a:ext>
            </a:extLst>
          </p:cNvPr>
          <p:cNvSpPr/>
          <p:nvPr/>
        </p:nvSpPr>
        <p:spPr>
          <a:xfrm>
            <a:off x="348882" y="3859393"/>
            <a:ext cx="8483418" cy="836745"/>
          </a:xfrm>
          <a:prstGeom prst="rect">
            <a:avLst/>
          </a:prstGeom>
          <a:solidFill>
            <a:srgbClr val="01274F"/>
          </a:solidFill>
          <a:ln w="38100" cap="flat" cmpd="sng">
            <a:solidFill>
              <a:srgbClr val="0127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0000" tIns="91425" rIns="91425" bIns="91425" anchor="ctr" anchorCtr="0">
            <a:noAutofit/>
          </a:bodyPr>
          <a:lstStyle/>
          <a:p>
            <a:r>
              <a:rPr lang="en-US" sz="900">
                <a:solidFill>
                  <a:schemeClr val="bg1"/>
                </a:solidFill>
                <a:latin typeface="Manrope" pitchFamily="2" charset="0"/>
              </a:rPr>
              <a:t>&lt;i&gt; Use exactly this phrase</a:t>
            </a:r>
            <a:endParaRPr lang="en-US" sz="900" dirty="0">
              <a:solidFill>
                <a:schemeClr val="bg1"/>
              </a:solidFill>
              <a:latin typeface="Manrope" pitchFamily="2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D70E3F2-C496-220D-182C-231AADB59465}"/>
              </a:ext>
            </a:extLst>
          </p:cNvPr>
          <p:cNvSpPr/>
          <p:nvPr/>
        </p:nvSpPr>
        <p:spPr>
          <a:xfrm>
            <a:off x="348880" y="3859393"/>
            <a:ext cx="754999" cy="8367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028" name="Picture 4" descr="Onpoint E-commerce">
            <a:extLst>
              <a:ext uri="{FF2B5EF4-FFF2-40B4-BE49-F238E27FC236}">
                <a16:creationId xmlns:a16="http://schemas.microsoft.com/office/drawing/2014/main" id="{A33C07C0-1F9B-112B-59D8-2C1160A6989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872" b="38527"/>
          <a:stretch>
            <a:fillRect/>
          </a:stretch>
        </p:blipFill>
        <p:spPr bwMode="auto">
          <a:xfrm>
            <a:off x="374691" y="4205029"/>
            <a:ext cx="703376" cy="165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Google Shape;81;p14" descr="469df7a8-b4bc-4e21-90c0-8d32b5f20cda">
            <a:extLst>
              <a:ext uri="{FF2B5EF4-FFF2-40B4-BE49-F238E27FC236}">
                <a16:creationId xmlns:a16="http://schemas.microsoft.com/office/drawing/2014/main" id="{09C39C24-0E55-9D1E-4EB9-81BD06D97723}"/>
              </a:ext>
            </a:extLst>
          </p:cNvPr>
          <p:cNvSpPr/>
          <p:nvPr/>
        </p:nvSpPr>
        <p:spPr>
          <a:xfrm>
            <a:off x="5867807" y="1799915"/>
            <a:ext cx="1646495" cy="514621"/>
          </a:xfrm>
          <a:prstGeom prst="roundRect">
            <a:avLst>
              <a:gd name="adj" fmla="val 10243"/>
            </a:avLst>
          </a:prstGeom>
          <a:noFill/>
          <a:ln w="127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dirty="0">
                <a:solidFill>
                  <a:schemeClr val="tx1"/>
                </a:solidFill>
                <a:latin typeface="Manrope"/>
                <a:ea typeface="Manrope"/>
                <a:cs typeface="Manrope"/>
                <a:sym typeface="Manrope"/>
              </a:rPr>
              <a:t>High internet penetration</a:t>
            </a:r>
            <a:endParaRPr sz="700" dirty="0">
              <a:solidFill>
                <a:schemeClr val="tx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3" name="Google Shape;81;p14" descr="abb50c86-af03-44c8-8f1c-9b06d2daa5e2">
            <a:extLst>
              <a:ext uri="{FF2B5EF4-FFF2-40B4-BE49-F238E27FC236}">
                <a16:creationId xmlns:a16="http://schemas.microsoft.com/office/drawing/2014/main" id="{84DDC990-4CE7-8693-695F-6FF80C5FE3C2}"/>
              </a:ext>
            </a:extLst>
          </p:cNvPr>
          <p:cNvSpPr/>
          <p:nvPr/>
        </p:nvSpPr>
        <p:spPr>
          <a:xfrm>
            <a:off x="5867808" y="2321658"/>
            <a:ext cx="1646494" cy="514621"/>
          </a:xfrm>
          <a:prstGeom prst="roundRect">
            <a:avLst>
              <a:gd name="adj" fmla="val 10243"/>
            </a:avLst>
          </a:prstGeom>
          <a:noFill/>
          <a:ln w="127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dirty="0">
                <a:solidFill>
                  <a:schemeClr val="tx1"/>
                </a:solidFill>
                <a:latin typeface="Manrope"/>
                <a:ea typeface="Manrope"/>
                <a:cs typeface="Manrope"/>
                <a:sym typeface="Manrope"/>
              </a:rPr>
              <a:t>Young, tech-savvy population</a:t>
            </a:r>
            <a:endParaRPr sz="700" dirty="0">
              <a:solidFill>
                <a:schemeClr val="tx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4" name="Google Shape;81;p14" descr="8dec56f6-f4d2-4daf-8cd8-9d1ada0ba7ea">
            <a:extLst>
              <a:ext uri="{FF2B5EF4-FFF2-40B4-BE49-F238E27FC236}">
                <a16:creationId xmlns:a16="http://schemas.microsoft.com/office/drawing/2014/main" id="{C5A183CE-4522-84F5-0E8B-C37245059318}"/>
              </a:ext>
            </a:extLst>
          </p:cNvPr>
          <p:cNvSpPr/>
          <p:nvPr/>
        </p:nvSpPr>
        <p:spPr>
          <a:xfrm>
            <a:off x="5867808" y="2890044"/>
            <a:ext cx="2965042" cy="514621"/>
          </a:xfrm>
          <a:prstGeom prst="roundRect">
            <a:avLst>
              <a:gd name="adj" fmla="val 10243"/>
            </a:avLst>
          </a:prstGeom>
          <a:noFill/>
          <a:ln w="127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dirty="0">
                <a:solidFill>
                  <a:schemeClr val="tx1"/>
                </a:solidFill>
                <a:latin typeface="Manrope"/>
                <a:ea typeface="Manrope"/>
                <a:cs typeface="Manrope"/>
                <a:sym typeface="Manrope"/>
              </a:rPr>
              <a:t>Social media integration &amp; shoppertainment</a:t>
            </a:r>
            <a:endParaRPr sz="700" dirty="0">
              <a:solidFill>
                <a:schemeClr val="tx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030" name="Picture 6" descr="Globe ">
            <a:extLst>
              <a:ext uri="{FF2B5EF4-FFF2-40B4-BE49-F238E27FC236}">
                <a16:creationId xmlns:a16="http://schemas.microsoft.com/office/drawing/2014/main" id="{ED93ACED-556B-A438-E382-C02CE64E11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6943" y="1970764"/>
            <a:ext cx="297586" cy="297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Touch ">
            <a:extLst>
              <a:ext uri="{FF2B5EF4-FFF2-40B4-BE49-F238E27FC236}">
                <a16:creationId xmlns:a16="http://schemas.microsoft.com/office/drawing/2014/main" id="{1FA658E1-A5D4-4B3C-A413-12F929515E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1250" y="2532996"/>
            <a:ext cx="303283" cy="303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Communication ">
            <a:extLst>
              <a:ext uri="{FF2B5EF4-FFF2-40B4-BE49-F238E27FC236}">
                <a16:creationId xmlns:a16="http://schemas.microsoft.com/office/drawing/2014/main" id="{A955460E-EDEA-B466-B4A1-BACF92D5F4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2171" y="3091987"/>
            <a:ext cx="341276" cy="341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81;p14" descr="6a839d9b-2b64-452e-9c63-b85cd1f4276c">
            <a:extLst>
              <a:ext uri="{FF2B5EF4-FFF2-40B4-BE49-F238E27FC236}">
                <a16:creationId xmlns:a16="http://schemas.microsoft.com/office/drawing/2014/main" id="{511A2F32-6897-D3A4-E7CE-8B8279FA0B53}"/>
              </a:ext>
            </a:extLst>
          </p:cNvPr>
          <p:cNvSpPr/>
          <p:nvPr/>
        </p:nvSpPr>
        <p:spPr>
          <a:xfrm>
            <a:off x="5867807" y="2042566"/>
            <a:ext cx="1646495" cy="514621"/>
          </a:xfrm>
          <a:prstGeom prst="roundRect">
            <a:avLst>
              <a:gd name="adj" fmla="val 10243"/>
            </a:avLst>
          </a:prstGeom>
          <a:noFill/>
          <a:ln w="127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dirty="0">
                <a:solidFill>
                  <a:schemeClr val="tx1"/>
                </a:solidFill>
                <a:latin typeface="Manrope"/>
                <a:ea typeface="Manrope"/>
                <a:cs typeface="Manrope"/>
                <a:sym typeface="Manrope"/>
              </a:rPr>
              <a:t>Description</a:t>
            </a:r>
            <a:endParaRPr sz="700" dirty="0">
              <a:solidFill>
                <a:schemeClr val="tx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" name="Google Shape;81;p14" descr="395b22b2-bf55-4fa4-9523-7b8468d3bcd6">
            <a:extLst>
              <a:ext uri="{FF2B5EF4-FFF2-40B4-BE49-F238E27FC236}">
                <a16:creationId xmlns:a16="http://schemas.microsoft.com/office/drawing/2014/main" id="{664D05F5-327D-7F72-0FCD-5A1E85017BEB}"/>
              </a:ext>
            </a:extLst>
          </p:cNvPr>
          <p:cNvSpPr/>
          <p:nvPr/>
        </p:nvSpPr>
        <p:spPr>
          <a:xfrm>
            <a:off x="5867808" y="2556726"/>
            <a:ext cx="1646494" cy="514621"/>
          </a:xfrm>
          <a:prstGeom prst="roundRect">
            <a:avLst>
              <a:gd name="adj" fmla="val 10243"/>
            </a:avLst>
          </a:prstGeom>
          <a:noFill/>
          <a:ln w="127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dirty="0">
                <a:solidFill>
                  <a:schemeClr val="tx1"/>
                </a:solidFill>
                <a:latin typeface="Manrope"/>
                <a:ea typeface="Manrope"/>
                <a:cs typeface="Manrope"/>
                <a:sym typeface="Manrope"/>
              </a:rPr>
              <a:t>Description</a:t>
            </a:r>
            <a:endParaRPr sz="700" dirty="0">
              <a:solidFill>
                <a:schemeClr val="tx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" name="Google Shape;81;p14" descr="27278319-c845-4093-8f60-3791d015c79d">
            <a:extLst>
              <a:ext uri="{FF2B5EF4-FFF2-40B4-BE49-F238E27FC236}">
                <a16:creationId xmlns:a16="http://schemas.microsoft.com/office/drawing/2014/main" id="{D0B1EB4D-A13C-6BA3-9891-7C2238CFD2DE}"/>
              </a:ext>
            </a:extLst>
          </p:cNvPr>
          <p:cNvSpPr/>
          <p:nvPr/>
        </p:nvSpPr>
        <p:spPr>
          <a:xfrm>
            <a:off x="5867808" y="3147354"/>
            <a:ext cx="2965042" cy="514621"/>
          </a:xfrm>
          <a:prstGeom prst="roundRect">
            <a:avLst>
              <a:gd name="adj" fmla="val 10243"/>
            </a:avLst>
          </a:prstGeom>
          <a:noFill/>
          <a:ln w="127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dirty="0">
                <a:solidFill>
                  <a:schemeClr val="tx1"/>
                </a:solidFill>
                <a:latin typeface="Manrope"/>
                <a:ea typeface="Manrope"/>
                <a:cs typeface="Manrope"/>
                <a:sym typeface="Manrope"/>
              </a:rPr>
              <a:t>Description</a:t>
            </a:r>
            <a:endParaRPr sz="700" dirty="0">
              <a:solidFill>
                <a:schemeClr val="tx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6" descr="d296ff32-e8c9-4d9e-9563-1548dc25696b"/>
          <p:cNvSpPr txBox="1">
            <a:spLocks noGrp="1"/>
          </p:cNvSpPr>
          <p:nvPr>
            <p:ph type="title"/>
          </p:nvPr>
        </p:nvSpPr>
        <p:spPr>
          <a:xfrm>
            <a:off x="311700" y="428950"/>
            <a:ext cx="8520600" cy="4053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300" b="1" dirty="0">
                <a:solidFill>
                  <a:srgbClr val="01284F"/>
                </a:solidFill>
                <a:latin typeface="Manrope"/>
                <a:ea typeface="Manrope"/>
                <a:cs typeface="Manrope"/>
                <a:sym typeface="Manrope"/>
              </a:rPr>
              <a:t>Proposed investment highlights to best position Xanh Marketing</a:t>
            </a:r>
            <a:endParaRPr sz="1300" b="1" dirty="0">
              <a:solidFill>
                <a:srgbClr val="01284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35" name="Google Shape;135;p16" descr="7b0205be-b54e-41f0-8cf6-23cfc3c5eef4"/>
          <p:cNvSpPr txBox="1">
            <a:spLocks noGrp="1"/>
          </p:cNvSpPr>
          <p:nvPr>
            <p:ph type="title"/>
          </p:nvPr>
        </p:nvSpPr>
        <p:spPr>
          <a:xfrm>
            <a:off x="311700" y="675900"/>
            <a:ext cx="8520600" cy="4053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n-GB" sz="1100" i="1" dirty="0">
                <a:latin typeface="Manrope"/>
                <a:ea typeface="Manrope"/>
                <a:cs typeface="Manrope"/>
                <a:sym typeface="Manrope"/>
              </a:rPr>
              <a:t>Thoughtful positioning of Xanh Marketing to help drive an above market valuation</a:t>
            </a:r>
            <a:endParaRPr sz="1100" i="1" dirty="0"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42" name="Google Shape;14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65375" y="197625"/>
            <a:ext cx="666925" cy="666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0" name="Picture 2" descr="Xanh Marketing | MMA Global">
            <a:extLst>
              <a:ext uri="{FF2B5EF4-FFF2-40B4-BE49-F238E27FC236}">
                <a16:creationId xmlns:a16="http://schemas.microsoft.com/office/drawing/2014/main" id="{2FF07E6F-46FC-36A7-BFA4-50C89ECA1A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0558" y="1125500"/>
            <a:ext cx="2362883" cy="40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B8A2E15-6794-E92F-6EF3-85A47E80A51F}"/>
              </a:ext>
            </a:extLst>
          </p:cNvPr>
          <p:cNvSpPr/>
          <p:nvPr/>
        </p:nvSpPr>
        <p:spPr>
          <a:xfrm>
            <a:off x="323850" y="1947037"/>
            <a:ext cx="2003714" cy="26946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0DBEB25-0677-7B5A-384F-B1CAA30190B0}"/>
              </a:ext>
            </a:extLst>
          </p:cNvPr>
          <p:cNvSpPr/>
          <p:nvPr/>
        </p:nvSpPr>
        <p:spPr>
          <a:xfrm>
            <a:off x="2492279" y="1947037"/>
            <a:ext cx="2003714" cy="26946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EEA439-CD7B-51D6-89EA-E1E2A0BF3E45}"/>
              </a:ext>
            </a:extLst>
          </p:cNvPr>
          <p:cNvSpPr/>
          <p:nvPr/>
        </p:nvSpPr>
        <p:spPr>
          <a:xfrm>
            <a:off x="4660708" y="1947037"/>
            <a:ext cx="2003714" cy="26946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433E3AD-9659-7C70-3056-E73B92A1F4DE}"/>
              </a:ext>
            </a:extLst>
          </p:cNvPr>
          <p:cNvSpPr/>
          <p:nvPr/>
        </p:nvSpPr>
        <p:spPr>
          <a:xfrm>
            <a:off x="6829136" y="1947037"/>
            <a:ext cx="2003714" cy="26946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8" name="Google Shape;188;p19">
            <a:extLst>
              <a:ext uri="{FF2B5EF4-FFF2-40B4-BE49-F238E27FC236}">
                <a16:creationId xmlns:a16="http://schemas.microsoft.com/office/drawing/2014/main" id="{DFD6E7D3-5631-529D-FAFC-4489FB2A7525}"/>
              </a:ext>
            </a:extLst>
          </p:cNvPr>
          <p:cNvCxnSpPr>
            <a:cxnSpLocks/>
          </p:cNvCxnSpPr>
          <p:nvPr/>
        </p:nvCxnSpPr>
        <p:spPr>
          <a:xfrm>
            <a:off x="323850" y="1761980"/>
            <a:ext cx="2003714" cy="0"/>
          </a:xfrm>
          <a:prstGeom prst="straightConnector1">
            <a:avLst/>
          </a:prstGeom>
          <a:noFill/>
          <a:ln w="28575" cap="flat" cmpd="sng">
            <a:solidFill>
              <a:srgbClr val="01284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" name="Google Shape;188;p19">
            <a:extLst>
              <a:ext uri="{FF2B5EF4-FFF2-40B4-BE49-F238E27FC236}">
                <a16:creationId xmlns:a16="http://schemas.microsoft.com/office/drawing/2014/main" id="{1A70FF56-79EA-05D2-5137-7796CA2A3688}"/>
              </a:ext>
            </a:extLst>
          </p:cNvPr>
          <p:cNvCxnSpPr>
            <a:cxnSpLocks/>
          </p:cNvCxnSpPr>
          <p:nvPr/>
        </p:nvCxnSpPr>
        <p:spPr>
          <a:xfrm>
            <a:off x="2487750" y="1761980"/>
            <a:ext cx="2003714" cy="0"/>
          </a:xfrm>
          <a:prstGeom prst="straightConnector1">
            <a:avLst/>
          </a:prstGeom>
          <a:noFill/>
          <a:ln w="28575" cap="flat" cmpd="sng">
            <a:solidFill>
              <a:srgbClr val="436E9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" name="Google Shape;188;p19">
            <a:extLst>
              <a:ext uri="{FF2B5EF4-FFF2-40B4-BE49-F238E27FC236}">
                <a16:creationId xmlns:a16="http://schemas.microsoft.com/office/drawing/2014/main" id="{0B5835AE-11F1-22E8-6D6A-E7DB52AB4094}"/>
              </a:ext>
            </a:extLst>
          </p:cNvPr>
          <p:cNvCxnSpPr>
            <a:cxnSpLocks/>
          </p:cNvCxnSpPr>
          <p:nvPr/>
        </p:nvCxnSpPr>
        <p:spPr>
          <a:xfrm>
            <a:off x="4660708" y="1761980"/>
            <a:ext cx="2003714" cy="0"/>
          </a:xfrm>
          <a:prstGeom prst="straightConnector1">
            <a:avLst/>
          </a:prstGeom>
          <a:noFill/>
          <a:ln w="28575" cap="flat" cmpd="sng">
            <a:solidFill>
              <a:srgbClr val="DCC08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" name="Google Shape;188;p19">
            <a:extLst>
              <a:ext uri="{FF2B5EF4-FFF2-40B4-BE49-F238E27FC236}">
                <a16:creationId xmlns:a16="http://schemas.microsoft.com/office/drawing/2014/main" id="{357C9C08-53ED-6443-B69B-1086B79F5BAE}"/>
              </a:ext>
            </a:extLst>
          </p:cNvPr>
          <p:cNvCxnSpPr>
            <a:cxnSpLocks/>
          </p:cNvCxnSpPr>
          <p:nvPr/>
        </p:nvCxnSpPr>
        <p:spPr>
          <a:xfrm>
            <a:off x="6821286" y="1761980"/>
            <a:ext cx="2003714" cy="0"/>
          </a:xfrm>
          <a:prstGeom prst="straightConnector1">
            <a:avLst/>
          </a:prstGeom>
          <a:noFill/>
          <a:ln w="28575" cap="flat" cmpd="sng">
            <a:solidFill>
              <a:srgbClr val="1EA89B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Google Shape;134;p16" descr="8348ee0f-5c66-4df0-9383-d3bcdcb3dd46">
            <a:extLst>
              <a:ext uri="{FF2B5EF4-FFF2-40B4-BE49-F238E27FC236}">
                <a16:creationId xmlns:a16="http://schemas.microsoft.com/office/drawing/2014/main" id="{FD6BEF3A-2085-F196-E3B8-1CA2C7C995C6}"/>
              </a:ext>
            </a:extLst>
          </p:cNvPr>
          <p:cNvSpPr txBox="1">
            <a:spLocks/>
          </p:cNvSpPr>
          <p:nvPr/>
        </p:nvSpPr>
        <p:spPr>
          <a:xfrm>
            <a:off x="323850" y="1761979"/>
            <a:ext cx="2011565" cy="40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990"/>
            </a:pPr>
            <a:r>
              <a:rPr lang="en-GB" sz="900" b="1" dirty="0">
                <a:solidFill>
                  <a:srgbClr val="01284F"/>
                </a:solidFill>
                <a:latin typeface="Manrope"/>
                <a:ea typeface="Manrope"/>
                <a:cs typeface="Manrope"/>
                <a:sym typeface="Manrope"/>
              </a:rPr>
              <a:t>A premier digital-first creative agency with deep cultural insight</a:t>
            </a:r>
          </a:p>
        </p:txBody>
      </p:sp>
      <p:sp>
        <p:nvSpPr>
          <p:cNvPr id="17" name="Google Shape;134;p16" descr="970e372d-8da2-487b-982a-396dfa6db585">
            <a:extLst>
              <a:ext uri="{FF2B5EF4-FFF2-40B4-BE49-F238E27FC236}">
                <a16:creationId xmlns:a16="http://schemas.microsoft.com/office/drawing/2014/main" id="{B332ACC8-F226-D0B3-4B03-6395A065AFDD}"/>
              </a:ext>
            </a:extLst>
          </p:cNvPr>
          <p:cNvSpPr txBox="1">
            <a:spLocks/>
          </p:cNvSpPr>
          <p:nvPr/>
        </p:nvSpPr>
        <p:spPr>
          <a:xfrm>
            <a:off x="2484428" y="1761979"/>
            <a:ext cx="2011565" cy="40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990"/>
            </a:pPr>
            <a:r>
              <a:rPr lang="en-GB" sz="900" b="1" dirty="0">
                <a:solidFill>
                  <a:srgbClr val="436E99"/>
                </a:solidFill>
                <a:latin typeface="Manrope"/>
                <a:ea typeface="Manrope"/>
                <a:cs typeface="Manrope"/>
                <a:sym typeface="Manrope"/>
              </a:rPr>
              <a:t>Blue-chip customer base with diverse end markets</a:t>
            </a:r>
          </a:p>
        </p:txBody>
      </p:sp>
      <p:sp>
        <p:nvSpPr>
          <p:cNvPr id="18" name="Google Shape;134;p16" descr="a89dbe5b-0c0a-45f2-979f-99b96aee33a7">
            <a:extLst>
              <a:ext uri="{FF2B5EF4-FFF2-40B4-BE49-F238E27FC236}">
                <a16:creationId xmlns:a16="http://schemas.microsoft.com/office/drawing/2014/main" id="{40DFE097-C3FA-A028-AAF1-9F4F9EEA03A6}"/>
              </a:ext>
            </a:extLst>
          </p:cNvPr>
          <p:cNvSpPr txBox="1">
            <a:spLocks/>
          </p:cNvSpPr>
          <p:nvPr/>
        </p:nvSpPr>
        <p:spPr>
          <a:xfrm>
            <a:off x="4660707" y="1761979"/>
            <a:ext cx="2011565" cy="40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990"/>
            </a:pPr>
            <a:r>
              <a:rPr lang="en-GB" sz="900" b="1" dirty="0">
                <a:solidFill>
                  <a:srgbClr val="DCC086"/>
                </a:solidFill>
                <a:latin typeface="Manrope"/>
                <a:ea typeface="Manrope"/>
                <a:cs typeface="Manrope"/>
                <a:sym typeface="Manrope"/>
              </a:rPr>
              <a:t>Compelling financials</a:t>
            </a:r>
          </a:p>
        </p:txBody>
      </p:sp>
      <p:sp>
        <p:nvSpPr>
          <p:cNvPr id="19" name="Google Shape;134;p16" descr="aaad37dd-17de-4ab8-a4b2-47e9065a2c8b">
            <a:extLst>
              <a:ext uri="{FF2B5EF4-FFF2-40B4-BE49-F238E27FC236}">
                <a16:creationId xmlns:a16="http://schemas.microsoft.com/office/drawing/2014/main" id="{EE3426EB-4896-B4C4-DE7C-8008207D5E1A}"/>
              </a:ext>
            </a:extLst>
          </p:cNvPr>
          <p:cNvSpPr txBox="1">
            <a:spLocks/>
          </p:cNvSpPr>
          <p:nvPr/>
        </p:nvSpPr>
        <p:spPr>
          <a:xfrm>
            <a:off x="6821286" y="1761979"/>
            <a:ext cx="2011565" cy="40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990"/>
            </a:pPr>
            <a:r>
              <a:rPr lang="en-GB" sz="900" b="1" dirty="0">
                <a:solidFill>
                  <a:srgbClr val="1EA89B"/>
                </a:solidFill>
                <a:latin typeface="Manrope"/>
                <a:ea typeface="Manrope"/>
                <a:cs typeface="Manrope"/>
                <a:sym typeface="Manrope"/>
              </a:rPr>
              <a:t>From agency to platform to become the end-to-end solution provider</a:t>
            </a:r>
          </a:p>
        </p:txBody>
      </p:sp>
      <p:sp>
        <p:nvSpPr>
          <p:cNvPr id="33" name="Rectangle 32" descr="672ebb27-260f-4b29-b3f9-4f0a0744064b">
            <a:extLst>
              <a:ext uri="{FF2B5EF4-FFF2-40B4-BE49-F238E27FC236}">
                <a16:creationId xmlns:a16="http://schemas.microsoft.com/office/drawing/2014/main" id="{7631D84D-AD5E-F1E6-E141-85737632F54E}"/>
              </a:ext>
            </a:extLst>
          </p:cNvPr>
          <p:cNvSpPr/>
          <p:nvPr/>
        </p:nvSpPr>
        <p:spPr>
          <a:xfrm>
            <a:off x="324000" y="2260327"/>
            <a:ext cx="2003713" cy="20850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t"/>
          <a:lstStyle/>
          <a:p>
            <a:pPr marL="96838" indent="-96838"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  <a:latin typeface="Manrope" pitchFamily="2" charset="0"/>
              </a:rPr>
              <a:t>Founded in 2015 with a mission to deliver brand campaigns rooted in Vietnamese culture </a:t>
            </a:r>
          </a:p>
          <a:p>
            <a:pPr marL="96838" indent="-96838"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  <a:latin typeface="Manrope" pitchFamily="2" charset="0"/>
              </a:rPr>
              <a:t>Developed the XPhin Model, a creative framework inspired by Vietnam’s phin coffee filter</a:t>
            </a:r>
          </a:p>
          <a:p>
            <a:pPr marL="96838" indent="-96838"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  <a:latin typeface="Manrope" pitchFamily="2" charset="0"/>
              </a:rPr>
              <a:t>Ideal for investors seeking culturally-rooted, scalable platforms in SEA</a:t>
            </a:r>
          </a:p>
        </p:txBody>
      </p:sp>
      <p:sp>
        <p:nvSpPr>
          <p:cNvPr id="34" name="Rectangle 33" descr="f55f8930-dea2-4cfb-be96-3ba81e6ac3e9">
            <a:extLst>
              <a:ext uri="{FF2B5EF4-FFF2-40B4-BE49-F238E27FC236}">
                <a16:creationId xmlns:a16="http://schemas.microsoft.com/office/drawing/2014/main" id="{E451D967-7D47-0DD6-AE8A-8BC01F291D2B}"/>
              </a:ext>
            </a:extLst>
          </p:cNvPr>
          <p:cNvSpPr/>
          <p:nvPr/>
        </p:nvSpPr>
        <p:spPr>
          <a:xfrm>
            <a:off x="2484426" y="2260327"/>
            <a:ext cx="2003713" cy="20850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96838" indent="-96838"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  <a:latin typeface="Manrope" pitchFamily="2" charset="0"/>
              </a:rPr>
              <a:t>Track record of over 500 campaigns for 100+ brands across digital and social channels, emphasizing creativity and cultural relevance</a:t>
            </a:r>
          </a:p>
          <a:p>
            <a:pPr marL="96838" indent="-96838"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  <a:latin typeface="Manrope" pitchFamily="2" charset="0"/>
              </a:rPr>
              <a:t>Proven ability to adapt brand narratives to various sectors with high standards of execution</a:t>
            </a:r>
          </a:p>
          <a:p>
            <a:pPr marL="96838" indent="-96838"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  <a:latin typeface="Manrope" pitchFamily="2" charset="0"/>
              </a:rPr>
              <a:t>Diversified client base provides revenue stability and cross-sell potential, lowering customer concentration risk for investors</a:t>
            </a:r>
          </a:p>
          <a:p>
            <a:pPr marL="96838" indent="-96838"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GB" sz="900" dirty="0">
              <a:solidFill>
                <a:schemeClr val="tx1"/>
              </a:solidFill>
              <a:latin typeface="Manrope" pitchFamily="2" charset="0"/>
              <a:cs typeface="Mangal" panose="02040503050203030202" pitchFamily="18" charset="0"/>
            </a:endParaRPr>
          </a:p>
        </p:txBody>
      </p:sp>
      <p:sp>
        <p:nvSpPr>
          <p:cNvPr id="35" name="Rectangle 34" descr="84a05393-2f86-4df1-a55f-c131e6e60819">
            <a:extLst>
              <a:ext uri="{FF2B5EF4-FFF2-40B4-BE49-F238E27FC236}">
                <a16:creationId xmlns:a16="http://schemas.microsoft.com/office/drawing/2014/main" id="{28007F49-1CE5-76E2-649C-38B5184E0A97}"/>
              </a:ext>
            </a:extLst>
          </p:cNvPr>
          <p:cNvSpPr/>
          <p:nvPr/>
        </p:nvSpPr>
        <p:spPr>
          <a:xfrm>
            <a:off x="4668559" y="2260327"/>
            <a:ext cx="2003713" cy="20850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96838" indent="-96838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900" i="1" dirty="0">
                <a:solidFill>
                  <a:schemeClr val="bg2"/>
                </a:solidFill>
                <a:latin typeface="Manrope" pitchFamily="2" charset="0"/>
              </a:rPr>
              <a:t>TBU after accessing to Xanh’s financial documents</a:t>
            </a:r>
          </a:p>
        </p:txBody>
      </p:sp>
      <p:sp>
        <p:nvSpPr>
          <p:cNvPr id="36" name="Rectangle 35" descr="6ce5ecd9-8b58-48a2-9a3c-5398e13c062f">
            <a:extLst>
              <a:ext uri="{FF2B5EF4-FFF2-40B4-BE49-F238E27FC236}">
                <a16:creationId xmlns:a16="http://schemas.microsoft.com/office/drawing/2014/main" id="{984FDA0F-5584-4CC7-C1FB-A2DDEC077DF1}"/>
              </a:ext>
            </a:extLst>
          </p:cNvPr>
          <p:cNvSpPr/>
          <p:nvPr/>
        </p:nvSpPr>
        <p:spPr>
          <a:xfrm>
            <a:off x="6836987" y="2260327"/>
            <a:ext cx="2003713" cy="20850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96838" indent="-96838"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  <a:latin typeface="Manrope" pitchFamily="2" charset="0"/>
              </a:rPr>
              <a:t>Positioning to become a one-stop platform for modern brand-building: blending culture, content, and commerce</a:t>
            </a:r>
          </a:p>
          <a:p>
            <a:pPr marL="96838" indent="-96838"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  <a:latin typeface="Manrope" pitchFamily="2" charset="0"/>
              </a:rPr>
              <a:t>Platform model unlocks economies of scale and cross-selling opportunities for strategic players</a:t>
            </a:r>
          </a:p>
          <a:p>
            <a:pPr marL="96838" indent="-96838"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  <a:latin typeface="Manrope" pitchFamily="2" charset="0"/>
              </a:rPr>
              <a:t>Ideal platform for both strategic and financial investors to “invest and build” and consolidate similar players in the market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Cambria">
      <a:maj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0e9e1ab-6588-40ca-8aec-421ae5e03741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CF23041F193214B8E57F0E285C1A82C" ma:contentTypeVersion="15" ma:contentTypeDescription="Create a new document." ma:contentTypeScope="" ma:versionID="cf3ebee454f8221a9c629dca5cfa0020">
  <xsd:schema xmlns:xsd="http://www.w3.org/2001/XMLSchema" xmlns:xs="http://www.w3.org/2001/XMLSchema" xmlns:p="http://schemas.microsoft.com/office/2006/metadata/properties" xmlns:ns3="f0e9e1ab-6588-40ca-8aec-421ae5e03741" xmlns:ns4="1b879db0-c332-4749-8662-4ec22ed2fa72" targetNamespace="http://schemas.microsoft.com/office/2006/metadata/properties" ma:root="true" ma:fieldsID="d0b1b7a147e5670e199648fc6c7b9374" ns3:_="" ns4:_="">
    <xsd:import namespace="f0e9e1ab-6588-40ca-8aec-421ae5e03741"/>
    <xsd:import namespace="1b879db0-c332-4749-8662-4ec22ed2fa7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  <xsd:element ref="ns3:MediaServiceDateTaken" minOccurs="0"/>
                <xsd:element ref="ns3:MediaServiceSystemTags" minOccurs="0"/>
                <xsd:element ref="ns3:MediaServiceLocation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e9e1ab-6588-40ca-8aec-421ae5e0374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879db0-c332-4749-8662-4ec22ed2fa72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F45DB43-CE85-49D2-A992-FA955C0F5359}">
  <ds:schemaRefs>
    <ds:schemaRef ds:uri="http://www.w3.org/XML/1998/namespace"/>
    <ds:schemaRef ds:uri="http://purl.org/dc/elements/1.1/"/>
    <ds:schemaRef ds:uri="http://schemas.openxmlformats.org/package/2006/metadata/core-properties"/>
    <ds:schemaRef ds:uri="http://purl.org/dc/dcmitype/"/>
    <ds:schemaRef ds:uri="http://purl.org/dc/terms/"/>
    <ds:schemaRef ds:uri="http://schemas.microsoft.com/office/2006/documentManagement/types"/>
    <ds:schemaRef ds:uri="http://schemas.microsoft.com/office/infopath/2007/PartnerControls"/>
    <ds:schemaRef ds:uri="1b879db0-c332-4749-8662-4ec22ed2fa72"/>
    <ds:schemaRef ds:uri="f0e9e1ab-6588-40ca-8aec-421ae5e03741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5E9700B6-E377-42AF-AE50-E1D4C832DF6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DD3A138-5ACD-47B5-BD62-AB387AD4515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0e9e1ab-6588-40ca-8aec-421ae5e03741"/>
    <ds:schemaRef ds:uri="1b879db0-c332-4749-8662-4ec22ed2fa7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633</TotalTime>
  <Words>455</Words>
  <Application>Microsoft Office PowerPoint</Application>
  <PresentationFormat>On-screen Show (16:9)</PresentationFormat>
  <Paragraphs>51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Manrope</vt:lpstr>
      <vt:lpstr>Simple Light</vt:lpstr>
      <vt:lpstr>A decade of innovation, growth with digital frontier</vt:lpstr>
      <vt:lpstr>Vietnam’s ecommerce and social commerce boom - a digital gold rush</vt:lpstr>
      <vt:lpstr>Proposed investment highlights to best position Xanh Marketing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Giang Nguyen</dc:creator>
  <cp:lastModifiedBy>Võ Minh Khôi</cp:lastModifiedBy>
  <cp:revision>18</cp:revision>
  <dcterms:modified xsi:type="dcterms:W3CDTF">2025-12-02T05:22:24Z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0x010100BCF23041F193214B8E57F0E285C1A82C</vt:lpwstr>
  </property>
</Properties>
</file>