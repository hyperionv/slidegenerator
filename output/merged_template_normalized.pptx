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r:id="rId4" id="2147483659"/>
    <p:sldMasterId r:id="rId6" id="2147483660"/>
  </p:sldMasterIdLst>
  <p:notesMasterIdLst>
    <p:notesMasterId r:id="rId8"/>
  </p:notesMasterIdLst>
  <p:sldIdLst>
    <p:sldId r:id="rId5" id="257"/>
    <p:sldId r:id="rId7" id="258"/>
  </p:sldIdLst>
  <p:sldSz cx="9144000" cy="5143500" type="screen16x9"/>
  <p:notesSz cx="6858000" cy="9144000"/>
  <p:embeddedFontLst>
    <p:embeddedFont>
      <p:font typeface="Manrope" charset="0"/>
      <p:regular r:id="rId9"/>
      <p:bold r:id="rId10"/>
    </p:embeddedFont>
  </p:embeddedFontLst>
  <p:custDataLst>
    <p:tags r:id="rId15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3.xml"/><Relationship Id="rId14" Type="http://schemas.openxmlformats.org/officeDocument/2006/relationships/tableStyles" Target="tableStyles.xml"/><Relationship Id="rId15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d14ebd27-2eb6-4b03-a61f-2d60ecfac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dLbls>
          <c:showLegendKey val="0"/>
          <c:showVal val="0"/>
          <c:showCatName val="0"/>
          <c:showSerName val="0"/>
          <c:showPercent val="0"/>
          <c:showBubbleSize val="0"/>
        </c:dLbls>
        <c:axId val="820053456"/>
        <c:axId val="820055168"/>
        <c:barDir val="col"/>
        <c:grouping val="clustered"/>
        <c:varyColors val="0"/>
        <c:ser>
          <c:idx val="1"/>
          <c:order val="0"/>
          <c:tx>
            <c:strRef>
              <c:f>Sheet1!$B$4</c:f>
              <c:strCache>
                <c:ptCount val="1"/>
                <c:pt idx="0">
                  <c:v>Market size (US$bn)</c:v>
                </c:pt>
              </c:strCache>
            </c:strRef>
          </c:tx>
          <c:spPr>
            <a:solidFill>
              <a:srgbClr val="0127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Manrope" pitchFamily="2" charset="0"/>
                    <a:ea typeface="+mn-ea"/>
                    <a:cs typeface="+mn-cs"/>
                  </a:defRPr>
                </a:pPr>
                <a:endParaRPr lang="en-VN" b="0" i="0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,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 xmlns:c="http://schemas.openxmlformats.org/drawingml/2006/chart">
                    <a:ln xmlns:a="http://schemas.openxmlformats.org/drawingml/2006/main"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 xmlns:a="http://schemas.openxmlformats.org/drawingml/2006/main"/>
                  </c:spPr>
                </c15:leaderLines>
              </c:ext>
            </c:extLst>
          </c:dLbls>
          <c:cat>
            <c:numRef>
              <c:f>'Sheet1'!$C$2:$G$2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'Sheet1'!$C$4:$G$4</c:f>
              <c:numCache>
                <c:formatCode>_(* #,##0.0_);_(* \(#,##0.0\);_(* "-"_);_(@_)</c:formatCode>
                <c:ptCount val="5"/>
                <c:pt idx="0">
                  <c:v>16.1</c:v>
                </c:pt>
                <c:pt idx="1">
                  <c:v>17.66009</c:v>
                </c:pt>
                <c:pt idx="2">
                  <c:v>19.371352721</c:v>
                </c:pt>
                <c:pt idx="3">
                  <c:v>21.2484367996649</c:v>
                </c:pt>
                <c:pt idx="4">
                  <c:v>23.30741032555243</c:v>
                </c:pt>
              </c:numCache>
            </c:numRef>
          </c:val>
          <c:shape val="box"/>
          <c:extLst>
            <c:ext xmlns:c16="http://schemas.microsoft.com/office/drawing/2014/chart" uri="{C3380CC4-5D6E-409C-BE32-E72D297353CC}">
              <c16:uniqueId val="{00000000-5779-E749-89D0-D0AE65209F67}"/>
            </c:ext>
          </c:extLst>
        </c:ser>
        <c:gapWidth val="80"/>
        <c:overlap val="41"/>
      </c:barChart>
      <c:catAx>
        <c:axId val="82005345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VN" b="0" i="0"/>
          </a:p>
        </c:txPr>
        <c:crossAx val="820055168"/>
        <c:crosses val="autoZero"/>
        <c:auto val="1"/>
        <c:lblAlgn val="ctr"/>
        <c:lblOffset val="100"/>
        <c:noMultiLvlLbl val="0"/>
      </c:catAx>
      <c:valAx>
        <c:axId val="820055168"/>
        <c:scaling>
          <c:orientation val="minMax"/>
        </c:scaling>
        <c:delete val="1"/>
        <c:axPos val="l"/>
        <c:numFmt formatCode="_(* #,##0.0_);_(* \(#,##0.0\);_(* &quot;-&quot;_);_(@_)" sourceLinked="0"/>
        <c:majorTickMark val="none"/>
        <c:minorTickMark val="none"/>
        <c:tickLblPos val="nextTo"/>
        <c:spPr/>
        <c:txPr>
          <a:bodyPr/>
          <a:lstStyle/>
          <a:p>
            <a:pPr>
              <a:defRPr/>
            </a:pPr>
          </a:p>
        </c:txPr>
        <c:crossAx val="82005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VN"/>
    </a:p>
  </c:txPr>
  <c:externalData r:id="rId3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 name="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2d24ff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2d24ff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 name="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80bea48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80bea48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lang="en-US" sz="1100" b="1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/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1pPr>
            <a:lvl2pPr lvl="1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2pPr>
            <a:lvl3pPr lvl="2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3pPr>
            <a:lvl4pPr lvl="3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4pPr>
            <a:lvl5pPr lvl="4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5pPr>
            <a:lvl6pPr lvl="5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6pPr>
            <a:lvl7pPr lvl="6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7pPr>
            <a:lvl8pPr lvl="7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8pPr>
            <a:lvl9pPr lvl="8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1pPr>
            <a:lvl2pPr lvl="1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2pPr>
            <a:lvl3pPr lvl="2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3pPr>
            <a:lvl4pPr lvl="3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4pPr>
            <a:lvl5pPr lvl="4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5pPr>
            <a:lvl6pPr lvl="5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6pPr>
            <a:lvl7pPr lvl="6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7pPr>
            <a:lvl8pPr lvl="7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8pPr>
            <a:lvl9pPr lvl="8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/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b="0" i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1pPr>
            <a:lvl2pPr lvl="1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2pPr>
            <a:lvl3pPr lvl="2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3pPr>
            <a:lvl4pPr lvl="3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4pPr>
            <a:lvl5pPr lvl="4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5pPr>
            <a:lvl6pPr lvl="5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6pPr>
            <a:lvl7pPr lvl="6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7pPr>
            <a:lvl8pPr lvl="7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8pPr>
            <a:lvl9pPr lvl="8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1pPr>
            <a:lvl2pPr lvl="1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2pPr>
            <a:lvl3pPr lvl="2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3pPr>
            <a:lvl4pPr lvl="3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4pPr>
            <a:lvl5pPr lvl="4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5pPr>
            <a:lvl6pPr lvl="5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6pPr>
            <a:lvl7pPr lvl="6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7pPr>
            <a:lvl8pPr lvl="7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8pPr>
            <a:lvl9pPr lvl="8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fast"/>
  <p:timing>
    <p:tnLst>
      <p:par>
        <p:cTn id="1" restart="never" nodeType="tmRoot"/>
      </p:par>
    </p:tnLst>
  </p:timing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b="0" i="0"/>
              <a:t>‹#›</a:t>
            </a:fld>
            <a:endParaRPr b="0" i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ransition spd="fast"/>
  <p:timing>
    <p:tnLst>
      <p:par>
        <p:cTn id="1" restart="never" nodeType="tmRoot"/>
      </p:par>
    </p:tnLst>
  </p:timing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image" Target="../media/image9.jpe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35150" y="3994575"/>
            <a:ext cx="8497200" cy="1998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6EBFF"/>
              </a:gs>
              <a:gs pos="100000">
                <a:schemeClr val="lt1"/>
              </a:gs>
            </a:gsLst>
            <a:lin ang="10800025" scaled="0"/>
            <a:tileRect/>
          </a:gradFill>
          <a:ln>
            <a:noFill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4" descr="650a5ed0-fc91-4479-a717-51c2a9280c2f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990"/>
              <a:buNone/>
            </a:pPr>
            <a:r>
              <a:rPr lang="en-GB" sz="1300" b="1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A decade of innovation, growth with digital frontier</a:t>
            </a:r>
            <a:endParaRPr sz="1300" b="1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4" descr="64726449-8fbe-4d74-af1b-4fdfc1724bc3"/>
          <p:cNvSpPr txBox="1">
            <a:spLocks noGrp="1"/>
          </p:cNvSpPr>
          <p:nvPr>
            <p:ph type="title"/>
          </p:nvPr>
        </p:nvSpPr>
        <p:spPr>
          <a:xfrm>
            <a:off x="311700" y="728817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891"/>
              <a:buNone/>
            </a:pPr>
            <a:r>
              <a:rPr lang="en-GB" sz="1100" i="1" dirty="1">
                <a:latin typeface="Manrope"/>
                <a:ea typeface="Manrope"/>
                <a:cs typeface="Manrope"/>
                <a:sym typeface="Manrope"/>
              </a:rPr>
              <a:t>The comprehensive suite of marketing and branding solutions with cultural depth and digital leadership</a:t>
            </a:r>
            <a:endParaRPr sz="1100" i="1"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2" name="Google Shape;72;p14"/>
          <p:cNvCxnSpPr>
            <a:stCxn id="73" idx="1"/>
          </p:cNvCxnSpPr>
          <p:nvPr/>
        </p:nvCxnSpPr>
        <p:spPr>
          <a:xfrm>
            <a:off x="2499263" y="1665329"/>
            <a:ext cx="0" cy="2429400"/>
          </a:xfrm>
          <a:prstGeom prst="straightConnector1"/>
          <a:noFill/>
          <a:ln w="952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>
            <a:stCxn id="75" idx="1"/>
          </p:cNvCxnSpPr>
          <p:nvPr/>
        </p:nvCxnSpPr>
        <p:spPr>
          <a:xfrm>
            <a:off x="6874400" y="1295804"/>
            <a:ext cx="0" cy="2797200"/>
          </a:xfrm>
          <a:prstGeom prst="straightConnector1"/>
          <a:noFill/>
          <a:ln w="9525" cap="flat" cmpd="sng">
            <a:solidFill>
              <a:srgbClr val="FFF0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>
            <a:stCxn id="77" idx="1"/>
          </p:cNvCxnSpPr>
          <p:nvPr/>
        </p:nvCxnSpPr>
        <p:spPr>
          <a:xfrm>
            <a:off x="4686838" y="1484579"/>
            <a:ext cx="0" cy="2639700"/>
          </a:xfrm>
          <a:prstGeom prst="straightConnector1"/>
          <a:noFill/>
          <a:ln w="9525" cap="flat" cmpd="sng">
            <a:solidFill>
              <a:srgbClr val="DBC08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4"/>
          <p:cNvPicPr preferRelativeResize="0"/>
          <p:nvPr/>
        </p:nvPicPr>
        <p:blipFill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8165375" y="197625"/>
            <a:ext cx="666925" cy="666925"/>
          </a:xfrm>
          <a:prstGeom prst="rect"/>
          <a:noFill/>
          <a:ln>
            <a:noFill/>
          </a:ln>
        </p:spPr>
      </p:pic>
      <p:cxnSp>
        <p:nvCxnSpPr>
          <p:cNvPr id="80" name="Google Shape;80;p14"/>
          <p:cNvCxnSpPr>
            <a:stCxn id="81" idx="1"/>
          </p:cNvCxnSpPr>
          <p:nvPr/>
        </p:nvCxnSpPr>
        <p:spPr>
          <a:xfrm>
            <a:off x="311700" y="1867804"/>
            <a:ext cx="0" cy="2224500"/>
          </a:xfrm>
          <a:prstGeom prst="straightConnector1"/>
          <a:noFill/>
          <a:ln w="952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4"/>
          <p:cNvSpPr/>
          <p:nvPr/>
        </p:nvSpPr>
        <p:spPr>
          <a:xfrm>
            <a:off x="311700" y="3840675"/>
            <a:ext cx="507600" cy="507600"/>
          </a:xfrm>
          <a:prstGeom prst="ellipse"/>
          <a:solidFill>
            <a:srgbClr val="0128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99275" y="3840675"/>
            <a:ext cx="507600" cy="507600"/>
          </a:xfrm>
          <a:prstGeom prst="ellipse"/>
          <a:solidFill>
            <a:srgbClr val="436E9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86838" y="3840675"/>
            <a:ext cx="507600" cy="507600"/>
          </a:xfrm>
          <a:prstGeom prst="ellipse"/>
          <a:solidFill>
            <a:srgbClr val="DBC08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74425" y="3840675"/>
            <a:ext cx="507600" cy="507600"/>
          </a:xfrm>
          <a:prstGeom prst="ellipse"/>
          <a:solidFill>
            <a:srgbClr val="FFF0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 descr="ea371498-c39f-4526-b04a-d5dd1ca45144"/>
          <p:cNvSpPr/>
          <p:nvPr/>
        </p:nvSpPr>
        <p:spPr>
          <a:xfrm>
            <a:off x="311700" y="1706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solidFill>
              <a:srgbClr val="012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Founding vision &amp; inception</a:t>
            </a:r>
            <a:endParaRPr sz="90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p14" descr="c679ff9f-cd0b-4d7e-b6cb-36d5217249ce"/>
          <p:cNvSpPr/>
          <p:nvPr/>
        </p:nvSpPr>
        <p:spPr>
          <a:xfrm>
            <a:off x="311700" y="2065840"/>
            <a:ext cx="1950600" cy="173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&lt;i&gt; use the content of this component, don’t change, don’t duplicate the content</a:t>
            </a: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Founded 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in 2015 with the mission of “sharing 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happyness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” as a digital and creative partner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Emphasized a deep understanding of Vietnamese culture with the embedded digital frontier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4" descr="57a145ae-6075-484b-8cee-9863cf5e77d4"/>
          <p:cNvSpPr/>
          <p:nvPr/>
        </p:nvSpPr>
        <p:spPr>
          <a:xfrm>
            <a:off x="2499263" y="150362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436E99"/>
          </a:solidFill>
          <a:ln w="9525" cap="flat" cmpd="sng">
            <a:solidFill>
              <a:srgbClr val="436E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Introduction of the XPhin Model</a:t>
            </a:r>
            <a:endParaRPr sz="90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p14" descr="ee32aa77-8fd3-4aef-b9aa-533622c214f1"/>
          <p:cNvSpPr/>
          <p:nvPr/>
        </p:nvSpPr>
        <p:spPr>
          <a:xfrm>
            <a:off x="2499267" y="1843518"/>
            <a:ext cx="1950600" cy="1960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2</a:t>
            </a:r>
            <a:r>
              <a:rPr lang="en-GB" sz="900" baseline="30000" dirty="1">
                <a:latin typeface="Manrope"/>
                <a:ea typeface="Manrope"/>
                <a:cs typeface="Manrope"/>
                <a:sym typeface="Manrope"/>
              </a:rPr>
              <a:t>nd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 column</a:t>
            </a: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Developed 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the proprietary XPhin Model, a strategic and creative planning framework inspired by the Vietnamese phin coffee filter, symbolizing a meticulous and culturally grounded approach to campaign development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p14" descr="e5d457fe-4f69-4b6d-a1d2-afcd876a756e"/>
          <p:cNvSpPr/>
          <p:nvPr/>
        </p:nvSpPr>
        <p:spPr>
          <a:xfrm>
            <a:off x="4686838" y="132287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DCC086"/>
          </a:solidFill>
          <a:ln w="9525" cap="flat" cmpd="sng">
            <a:solidFill>
              <a:srgbClr val="DBC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latin typeface="Manrope"/>
                <a:ea typeface="Manrope"/>
                <a:cs typeface="Manrope"/>
                <a:sym typeface="Manrope"/>
              </a:rPr>
              <a:t>Expansion of services &amp; client base</a:t>
            </a:r>
            <a:endParaRPr sz="9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4" descr="eb511ca3-e21b-456b-ae07-cb4a77d1ee57"/>
          <p:cNvSpPr/>
          <p:nvPr/>
        </p:nvSpPr>
        <p:spPr>
          <a:xfrm>
            <a:off x="4686833" y="1662678"/>
            <a:ext cx="1950600" cy="2141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Expanded to a comprehensive service suite: creative solutions, 360 digital performance, social management, influence hacking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Collaborated with 100+ clients and 500+ projects across various industries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 descr="38019cf8-fa90-4d7f-a6bf-ddd9f52ff41a"/>
          <p:cNvSpPr/>
          <p:nvPr/>
        </p:nvSpPr>
        <p:spPr>
          <a:xfrm>
            <a:off x="6874400" y="1134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FEF1CF"/>
          </a:solidFill>
          <a:ln w="9525" cap="flat" cmpd="sng">
            <a:solidFill>
              <a:srgbClr val="FFF0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latin typeface="Manrope"/>
                <a:ea typeface="Manrope"/>
                <a:cs typeface="Manrope"/>
                <a:sym typeface="Manrope"/>
              </a:rPr>
              <a:t>Launch of Xanh &amp; Partners</a:t>
            </a:r>
            <a:endParaRPr sz="9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4" descr="c5ef9f4e-9158-426e-a489-83a6ddc921e7"/>
          <p:cNvSpPr/>
          <p:nvPr/>
        </p:nvSpPr>
        <p:spPr>
          <a:xfrm>
            <a:off x="6874400" y="1482866"/>
            <a:ext cx="1950600" cy="2321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Introduced the end-to-end integrated solutions comprising: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8100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2015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45667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2019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33258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2020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720825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2023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xmlns:r="http://schemas.openxmlformats.org/officeDocument/2006/relationships" r:embed="rId4">
            <a:alphaModFix/>
          </a:blip>
          <a:srcRect/>
          <a:stretch>
            <a:fillRect/>
          </a:stretch>
        </p:blipFill>
        <p:spPr>
          <a:xfrm>
            <a:off x="2937805" y="3230940"/>
            <a:ext cx="1073524" cy="604038"/>
          </a:xfrm>
          <a:prstGeom prst="rect"/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xmlns:r="http://schemas.openxmlformats.org/officeDocument/2006/relationships" r:embed="rId5">
            <a:alphaModFix/>
          </a:blip>
          <a:srcRect/>
          <a:stretch>
            <a:fillRect/>
          </a:stretch>
        </p:blipFill>
        <p:spPr>
          <a:xfrm>
            <a:off x="7017575" y="2128229"/>
            <a:ext cx="364450" cy="364450"/>
          </a:xfrm>
          <a:prstGeom prst="rect"/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7017575" y="3241967"/>
            <a:ext cx="730800" cy="364500"/>
          </a:xfrm>
          <a:prstGeom prst="rect"/>
          <a:solidFill>
            <a:srgbClr val="DBC0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>
          <a:blip xmlns:r="http://schemas.openxmlformats.org/officeDocument/2006/relationships" r:embed="rId6">
            <a:alphaModFix/>
          </a:blip>
          <a:srcRect/>
          <a:stretch>
            <a:fillRect/>
          </a:stretch>
        </p:blipFill>
        <p:spPr>
          <a:xfrm>
            <a:off x="7017575" y="2693441"/>
            <a:ext cx="364451" cy="364451"/>
          </a:xfrm>
          <a:prstGeom prst="rect"/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xmlns:r="http://schemas.openxmlformats.org/officeDocument/2006/relationships" r:embed="rId7">
            <a:alphaModFix/>
          </a:blip>
          <a:srcRect/>
          <a:stretch>
            <a:fillRect/>
          </a:stretch>
        </p:blipFill>
        <p:spPr>
          <a:xfrm>
            <a:off x="7049500" y="3336666"/>
            <a:ext cx="666926" cy="155007"/>
          </a:xfrm>
          <a:prstGeom prst="rect"/>
          <a:noFill/>
          <a:ln>
            <a:noFill/>
          </a:ln>
        </p:spPr>
      </p:pic>
      <p:sp>
        <p:nvSpPr>
          <p:cNvPr id="99" name="Google Shape;99;p14" descr="d1eec328-b4ec-4d23-bbe6-fb82bae49454"/>
          <p:cNvSpPr/>
          <p:nvPr/>
        </p:nvSpPr>
        <p:spPr>
          <a:xfrm>
            <a:off x="7343339" y="2127242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dirty="1">
                <a:latin typeface="Manrope"/>
                <a:ea typeface="Manrope"/>
                <a:cs typeface="Manrope"/>
                <a:sym typeface="Manrope"/>
              </a:rPr>
              <a:t>Social-tainment marketing</a:t>
            </a:r>
            <a:endParaRPr sz="7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4" descr="9485856a-4954-424e-ac15-bdcd5c59175b"/>
          <p:cNvSpPr/>
          <p:nvPr/>
        </p:nvSpPr>
        <p:spPr>
          <a:xfrm>
            <a:off x="7343339" y="2678067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dirty="1">
                <a:latin typeface="Manrope"/>
                <a:ea typeface="Manrope"/>
                <a:cs typeface="Manrope"/>
                <a:sym typeface="Manrope"/>
              </a:rPr>
              <a:t>Ecommerce enablement and solutions</a:t>
            </a:r>
            <a:endParaRPr sz="7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4" descr="e17fd5e2-f880-46f5-995e-b684e6552f99"/>
          <p:cNvSpPr/>
          <p:nvPr/>
        </p:nvSpPr>
        <p:spPr>
          <a:xfrm>
            <a:off x="7705290" y="3228892"/>
            <a:ext cx="10533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dirty="1">
                <a:latin typeface="Manrope"/>
                <a:ea typeface="Manrope"/>
                <a:cs typeface="Manrope"/>
                <a:sym typeface="Manrope"/>
              </a:rPr>
              <a:t>Creative production house</a:t>
            </a:r>
            <a:endParaRPr sz="70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 descr="c1c80a3f-318a-4135-99a5-4b7cba73dd76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990"/>
              <a:buNone/>
            </a:pPr>
            <a:r>
              <a:rPr lang="en-GB" sz="1300" b="1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Vietnam’s ecommerce and social commerce boom - a digital gold rush</a:t>
            </a:r>
            <a:endParaRPr sz="1300" b="1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5" descr="107b9b06-c886-424f-92b9-c5995231b914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891"/>
              <a:buNone/>
            </a:pPr>
            <a:r>
              <a:rPr lang="en-GB" sz="1100" i="1" dirty="1">
                <a:latin typeface="Manrope"/>
                <a:ea typeface="Manrope"/>
                <a:cs typeface="Manrope"/>
                <a:sym typeface="Manrope"/>
              </a:rPr>
              <a:t>Riding the next wave of digital commerce: platforms, creators, and social engagement</a:t>
            </a:r>
            <a:endParaRPr sz="1100" i="1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8165375" y="197625"/>
            <a:ext cx="666925" cy="666925"/>
          </a:xfrm>
          <a:prstGeom prst="rect"/>
          <a:noFill/>
          <a:ln>
            <a:noFill/>
          </a:ln>
        </p:spPr>
      </p:pic>
      <p:sp>
        <p:nvSpPr>
          <p:cNvPr id="117" name="Google Shape;117;p15" descr="b59bae89-2ce5-4b86-ad07-62cc232fa9cf"/>
          <p:cNvSpPr/>
          <p:nvPr/>
        </p:nvSpPr>
        <p:spPr>
          <a:xfrm>
            <a:off x="311700" y="1044807"/>
            <a:ext cx="4160100" cy="357000"/>
          </a:xfrm>
          <a:prstGeom prst="rect"/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 b="1" i="0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&lt;i&gt;Keep this “Ecommerce </a:t>
            </a:r>
            <a:r>
              <a:rPr lang="en-GB" sz="1100" b="1" i="0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is still on </a:t>
            </a:r>
            <a:r>
              <a:rPr lang="en-GB" sz="1100" b="1" i="0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the rise”</a:t>
            </a:r>
            <a:endParaRPr sz="1100" b="1" i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" name="Google Shape;118;p15"/>
          <p:cNvCxnSpPr/>
          <p:nvPr/>
        </p:nvCxnSpPr>
        <p:spPr>
          <a:xfrm>
            <a:off x="311700" y="1387944"/>
            <a:ext cx="8521150" cy="0"/>
          </a:xfrm>
          <a:prstGeom prst="straightConnector1"/>
          <a:noFill/>
          <a:ln w="9525" cap="flat" cmpd="sng">
            <a:solidFill>
              <a:srgbClr val="01274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 descr="00d914b8-8548-4aa6-bc32-352f9303a4b7"/>
          <p:cNvGraphicFramePr/>
          <p:nvPr>
            <p:extLst>
              <p:ext uri="{D42A27DB-BD31-4B8C-83A1-F6EECF244321}">
                <p14:modId xmlns:p14="http://schemas.microsoft.com/office/powerpoint/2010/main" val="117393232"/>
              </p:ext>
            </p:extLst>
          </p:nvPr>
        </p:nvGraphicFramePr>
        <p:xfrm>
          <a:off x="318999" y="1913654"/>
          <a:ext cx="4918019" cy="186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117;p15" descr="1f3618a2-0199-43a0-be3a-13afca610a02"/>
          <p:cNvSpPr/>
          <p:nvPr/>
        </p:nvSpPr>
        <p:spPr>
          <a:xfrm>
            <a:off x="311700" y="1436607"/>
            <a:ext cx="3225000" cy="152588"/>
          </a:xfrm>
          <a:prstGeom prst="rect"/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&lt;i&gt; Vietnam’s </a:t>
            </a:r>
            <a:r>
              <a:rPr lang="en-GB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ecommerce industry, </a:t>
            </a:r>
            <a:r>
              <a:rPr lang="en-GB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US$bn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81;p14" descr="638a56c0-3676-4494-814d-acd8d959a6c0"/>
          <p:cNvSpPr/>
          <p:nvPr/>
        </p:nvSpPr>
        <p:spPr>
          <a:xfrm>
            <a:off x="5452171" y="1594034"/>
            <a:ext cx="3380679" cy="1617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i="0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Key drivers</a:t>
            </a:r>
            <a:endParaRPr sz="900" b="1" i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25;p15" descr="866f9161-8f51-48b9-8963-71d4022e2b20"/>
          <p:cNvSpPr/>
          <p:nvPr/>
        </p:nvSpPr>
        <p:spPr>
          <a:xfrm>
            <a:off x="348882" y="3859393"/>
            <a:ext cx="8483418" cy="836745"/>
          </a:xfrm>
          <a:prstGeom prst="rect"/>
          <a:solidFill>
            <a:srgbClr val="01274F"/>
          </a:solidFill>
          <a:ln w="38100" cap="flat" cmpd="sng">
            <a:solidFill>
              <a:srgbClr val="01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r>
              <a:rPr lang="en-US" sz="900" b="0" i="0" dirty="1">
                <a:solidFill>
                  <a:schemeClr val="bg1"/>
                </a:solidFill>
                <a:latin typeface="Manrope" pitchFamily="2" charset="0"/>
              </a:rPr>
              <a:t>This component is used for placing the information of the spotlight competitor in the industry</a:t>
            </a:r>
            <a:endParaRPr lang="en-US" sz="900" b="0" i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8880" y="3859393"/>
            <a:ext cx="754999" cy="836745"/>
          </a:xfrm>
          <a:prstGeom prst="rect"/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L="0" marR="0" lvl="0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1pPr>
            <a:lvl2pPr marL="0" marR="0" lvl="1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2pPr>
            <a:lvl3pPr marL="0" marR="0" lvl="2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3pPr>
            <a:lvl4pPr marL="0" marR="0" lvl="3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4pPr>
            <a:lvl5pPr marL="0" marR="0" lvl="4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5pPr>
            <a:lvl6pPr marL="0" marR="0" lvl="5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6pPr>
            <a:lvl7pPr marL="0" marR="0" lvl="6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7pPr>
            <a:lvl8pPr marL="0" marR="0" lvl="7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8pPr>
            <a:lvl9pPr marL="0" marR="0" lvl="8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9pPr>
          </a:lstStyle>
          <a:p>
            <a:pPr algn="ctr"/>
            <a:endParaRPr lang="en-GB" b="0" i="0"/>
          </a:p>
        </p:txBody>
      </p:sp>
      <p:pic>
        <p:nvPicPr>
          <p:cNvPr id="1028" name="Picture 4" descr="Onpoint E-commerce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5"/>
          <a:srcRect t="37872" b="38527"/>
          <a:stretch>
            <a:fillRect/>
          </a:stretch>
        </p:blipFill>
        <p:spPr>
          <a:xfrm>
            <a:off x="374691" y="4205029"/>
            <a:ext cx="703376" cy="165847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81;p14" descr="ad67ba36-e398-4228-a965-7b3cceb9ec7b"/>
          <p:cNvSpPr/>
          <p:nvPr/>
        </p:nvSpPr>
        <p:spPr>
          <a:xfrm>
            <a:off x="5867807" y="1799915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High internet penetration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81;p14" descr="cca91908-4df5-4b16-8b70-6bbe17ed0d57"/>
          <p:cNvSpPr/>
          <p:nvPr/>
        </p:nvSpPr>
        <p:spPr>
          <a:xfrm>
            <a:off x="5867808" y="2321658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Young, tech-savvy population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81;p14" descr="81bf5500-b438-4f23-b7c2-b0834b64b296"/>
          <p:cNvSpPr/>
          <p:nvPr/>
        </p:nvSpPr>
        <p:spPr>
          <a:xfrm>
            <a:off x="5867808" y="289004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Social media integration &amp; shoppertainment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0" name="Picture 6" descr="Globe 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6"/>
          <a:srcRect/>
          <a:stretch>
            <a:fillRect/>
          </a:stretch>
        </p:blipFill>
        <p:spPr>
          <a:xfrm>
            <a:off x="5456943" y="1970764"/>
            <a:ext cx="297586" cy="297586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uch 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7"/>
          <a:srcRect/>
          <a:stretch>
            <a:fillRect/>
          </a:stretch>
        </p:blipFill>
        <p:spPr>
          <a:xfrm>
            <a:off x="5461250" y="2532996"/>
            <a:ext cx="303283" cy="303283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munication 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8"/>
          <a:srcRect/>
          <a:stretch>
            <a:fillRect/>
          </a:stretch>
        </p:blipFill>
        <p:spPr>
          <a:xfrm>
            <a:off x="5452171" y="3091987"/>
            <a:ext cx="341276" cy="341276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1;p14" descr="1b8f12d3-cb16-4520-9c84-10f5a3b306aa"/>
          <p:cNvSpPr/>
          <p:nvPr/>
        </p:nvSpPr>
        <p:spPr>
          <a:xfrm>
            <a:off x="5867807" y="2042566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" name="Google Shape;81;p14" descr="aede510a-fcb3-435f-8a52-ac3925d34702"/>
          <p:cNvSpPr/>
          <p:nvPr/>
        </p:nvSpPr>
        <p:spPr>
          <a:xfrm>
            <a:off x="5867808" y="2556726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81;p14" descr="eb00f23e-1faf-41aa-a23c-37cc984ac93a"/>
          <p:cNvSpPr/>
          <p:nvPr/>
        </p:nvSpPr>
        <p:spPr>
          <a:xfrm>
            <a:off x="5867808" y="314735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7.0.20"/>
  <p:tag name="AS_OS" val="Microsoft Windows NT 10.0.26200.0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Uigh" typeface="Microsoft Uighur"/>
        <a:font script="Jpan" typeface="ＭＳ Ｐゴシック"/>
        <a:font script="Tibt" typeface="Microsoft Himalaya"/>
        <a:font script="Ethi" typeface="Nyala"/>
        <a:font script="Laoo" typeface="DokChampa"/>
        <a:font script="Yiii" typeface="Microsoft Yi Baiti"/>
        <a:font script="Arab" typeface="Times New Roman"/>
        <a:font script="Khmr" typeface="MoolBoran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Times New Roman"/>
        <a:font script="Thai" typeface="Angsana New"/>
        <a:font script="Sinh" typeface="Iskoola Pota"/>
        <a:font script="Cher" typeface="Plantagenet Cherokee"/>
        <a:font script="Mlym" typeface="Kartika"/>
        <a:font script="Hans" typeface="宋体"/>
        <a:font script="Mong" typeface="Mongolian Baiti"/>
        <a:font script="Guru" typeface="Raavi"/>
        <a:font script="Thaa" typeface="MV Boli"/>
        <a:font script="Hang" typeface="맑은 고딕"/>
        <a:font script="Viet" typeface="Times New Roman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ajorFont>
      <a:minorFont>
        <a:latin typeface="Arial"/>
        <a:ea typeface=""/>
        <a:cs typeface=""/>
        <a:font script="Uigh" typeface="Microsoft Uighur"/>
        <a:font script="Jpan" typeface="ＭＳ Ｐゴシック"/>
        <a:font script="Tibt" typeface="Microsoft Himalaya"/>
        <a:font script="Ethi" typeface="Nyala"/>
        <a:font script="Laoo" typeface="DokChampa"/>
        <a:font script="Yiii" typeface="Microsoft Yi Baiti"/>
        <a:font script="Arab" typeface="Arial"/>
        <a:font script="Khmr" typeface="DaunPenh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Arial"/>
        <a:font script="Thai" typeface="Cordia New"/>
        <a:font script="Sinh" typeface="Iskoola Pota"/>
        <a:font script="Cher" typeface="Plantagenet Cherokee"/>
        <a:font script="Mlym" typeface="Kartika"/>
        <a:font script="Hans" typeface="宋体"/>
        <a:font script="Mong" typeface="Mongolian Baiti"/>
        <a:font script="Guru" typeface="Raavi"/>
        <a:font script="Thaa" typeface="MV Boli"/>
        <a:font script="Hang" typeface="맑은 고딕"/>
        <a:font script="Viet" typeface="Arial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Uigh" typeface="Microsoft Uighur"/>
        <a:font script="Jpan" typeface="HG明朝B"/>
        <a:font script="Tibt" typeface="Microsoft Himalaya"/>
        <a:font script="Ethi" typeface="Nyala"/>
        <a:font script="Laoo" typeface="DokChampa"/>
        <a:font script="Yiii" typeface="Microsoft Yi Baiti"/>
        <a:font script="Arab" typeface="Times New Roman"/>
        <a:font script="Khmr" typeface="MoolBoran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Times New Roman"/>
        <a:font script="Thai" typeface="Angsana New"/>
        <a:font script="Sinh" typeface="Iskoola Pota"/>
        <a:font script="Cher" typeface="Plantagenet Cherokee"/>
        <a:font script="Mlym" typeface="Kartika"/>
        <a:font script="Hans" typeface="黑体"/>
        <a:font script="Mong" typeface="Mongolian Baiti"/>
        <a:font script="Guru" typeface="Raavi"/>
        <a:font script="Thaa" typeface="MV Boli"/>
        <a:font script="Hang" typeface="맑은 고딕"/>
        <a:font script="Viet" typeface="Times New Roman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ajorFont>
      <a:minorFont>
        <a:latin typeface="Cambria" panose="02040503050406030204"/>
        <a:ea typeface=""/>
        <a:cs typeface=""/>
        <a:font script="Uigh" typeface="Microsoft Uighur"/>
        <a:font script="Jpan" typeface="HG明朝B"/>
        <a:font script="Tibt" typeface="Microsoft Himalaya"/>
        <a:font script="Ethi" typeface="Nyala"/>
        <a:font script="Laoo" typeface="DokChampa"/>
        <a:font script="Yiii" typeface="Microsoft Yi Baiti"/>
        <a:font script="Arab" typeface="Times New Roman"/>
        <a:font script="Khmr" typeface="MoolBoran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Times New Roman"/>
        <a:font script="Thai" typeface="Angsana New"/>
        <a:font script="Sinh" typeface="Iskoola Pota"/>
        <a:font script="Cher" typeface="Plantagenet Cherokee"/>
        <a:font script="Mlym" typeface="Kartika"/>
        <a:font script="Hans" typeface="黑体"/>
        <a:font script="Mong" typeface="Mongolian Baiti"/>
        <a:font script="Guru" typeface="Raavi"/>
        <a:font script="Thaa" typeface="MV Boli"/>
        <a:font script="Hang" typeface="맑은 고딕"/>
        <a:font script="Viet" typeface="Times New Roman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Uigh" typeface="Microsoft Uighur"/>
        <a:font script="Jpan" typeface="HG明朝B"/>
        <a:font script="Tibt" typeface="Microsoft Himalaya"/>
        <a:font script="Ethi" typeface="Nyala"/>
        <a:font script="Laoo" typeface="DokChampa"/>
        <a:font script="Yiii" typeface="Microsoft Yi Baiti"/>
        <a:font script="Arab" typeface="Times New Roman"/>
        <a:font script="Khmr" typeface="MoolBoran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Times New Roman"/>
        <a:font script="Thai" typeface="Angsana New"/>
        <a:font script="Sinh" typeface="Iskoola Pota"/>
        <a:font script="Cher" typeface="Plantagenet Cherokee"/>
        <a:font script="Mlym" typeface="Kartika"/>
        <a:font script="Hans" typeface="黑体"/>
        <a:font script="Mong" typeface="Mongolian Baiti"/>
        <a:font script="Guru" typeface="Raavi"/>
        <a:font script="Thaa" typeface="MV Boli"/>
        <a:font script="Hang" typeface="맑은 고딕"/>
        <a:font script="Viet" typeface="Times New Roman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ajorFont>
      <a:minorFont>
        <a:latin typeface="Cambria" panose="02040503050406030204"/>
        <a:ea typeface=""/>
        <a:cs typeface=""/>
        <a:font script="Uigh" typeface="Microsoft Uighur"/>
        <a:font script="Jpan" typeface="HG明朝B"/>
        <a:font script="Tibt" typeface="Microsoft Himalaya"/>
        <a:font script="Ethi" typeface="Nyala"/>
        <a:font script="Laoo" typeface="DokChampa"/>
        <a:font script="Yiii" typeface="Microsoft Yi Baiti"/>
        <a:font script="Arab" typeface="Times New Roman"/>
        <a:font script="Khmr" typeface="MoolBoran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Times New Roman"/>
        <a:font script="Thai" typeface="Angsana New"/>
        <a:font script="Sinh" typeface="Iskoola Pota"/>
        <a:font script="Cher" typeface="Plantagenet Cherokee"/>
        <a:font script="Mlym" typeface="Kartika"/>
        <a:font script="Hans" typeface="黑体"/>
        <a:font script="Mong" typeface="Mongolian Baiti"/>
        <a:font script="Guru" typeface="Raavi"/>
        <a:font script="Thaa" typeface="MV Boli"/>
        <a:font script="Hang" typeface="맑은 고딕"/>
        <a:font script="Viet" typeface="Times New Roman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Application>Microsoft Office PowerPoint</Application>
  <PresentationFormat>On-screen Show (16:9)</PresentationFormat>
  <Slides>3</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21</cp:revision>
  <dcterms:modified xsi:type="dcterms:W3CDTF">2025-12-05T09:10:56.5865035Z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xns:property xmlns:xns="http://schemas.openxmlformats.org/officeDocument/2006/custom-properties" fmtid="{D5CDD505-2E9C-101B-9397-08002B2CF9AE}" pid="2" name="ContentTypeId">
    <vt:lpwstr>0x010100BCF23041F193214B8E57F0E285C1A82C</vt:lpwstr>
  </xns:property>
</Properties>
</file>