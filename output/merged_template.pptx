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r:id="rId4" id="2147483659"/>
    <p:sldMasterId r:id="rId6" id="2147483660"/>
  </p:sldMasterIdLst>
  <p:notesMasterIdLst>
    <p:notesMasterId r:id="rId8"/>
  </p:notesMasterIdLst>
  <p:sldIdLst>
    <p:sldId r:id="rId5" id="257"/>
    <p:sldId r:id="rId7" id="258"/>
  </p:sldIdLst>
  <p:sldSz cx="9144000" cy="5143500" type="screen16x9"/>
  <p:notesSz cx="6858000" cy="9144000"/>
  <p:embeddedFontLst>
    <p:embeddedFont>
      <p:font typeface="Manrope" charset="0"/>
      <p:regular r:id="rId9"/>
      <p:bold r:id="rId10"/>
    </p:embeddedFont>
  </p:embeddedFontLst>
  <p:custDataLst>
    <p:tags r:id="rId15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04" userDrawn="1">
          <p15:clr>
            <a:srgbClr val="747775"/>
          </p15:clr>
        </p15:guide>
        <p15:guide id="2" pos="5564">
          <p15:clr>
            <a:srgbClr val="747775"/>
          </p15:clr>
        </p15:guide>
        <p15:guide id="3" orient="horz" pos="426">
          <p15:clr>
            <a:srgbClr val="747775"/>
          </p15:clr>
        </p15:guide>
      </p15:sldGuideLst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4F5C"/>
    <a:srgbClr val="436E99"/>
    <a:srgbClr val="DCC086"/>
    <a:srgbClr val="01274F"/>
    <a:srgbClr val="1EA89B"/>
    <a:srgbClr val="D7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C17D90-5EDD-40C1-A788-3ED6A1A31342}">
  <a:tblStyle styleId="{E2C17D90-5EDD-40C1-A788-3ED6A1A313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94681"/>
  </p:normalViewPr>
  <p:slideViewPr>
    <p:cSldViewPr snapToGrid="0">
      <p:cViewPr varScale="1">
        <p:scale>
          <a:sx n="133" d="100"/>
          <a:sy n="133" d="100"/>
        </p:scale>
        <p:origin x="678" y="126"/>
      </p:cViewPr>
      <p:guideLst>
        <p:guide pos="204"/>
        <p:guide pos="5564"/>
        <p:guide orient="horz" pos="4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3.xml"/><Relationship Id="rId14" Type="http://schemas.openxmlformats.org/officeDocument/2006/relationships/tableStyles" Target="tableStyles.xml"/><Relationship Id="rId15" Type="http://schemas.openxmlformats.org/officeDocument/2006/relationships/tags" Target="tags/tag1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d14ebd27-2eb6-4b03-a61f-2d60ecfac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dLbls>
          <c:showLegendKey val="0"/>
          <c:showVal val="0"/>
          <c:showCatName val="0"/>
          <c:showSerName val="0"/>
          <c:showPercent val="0"/>
          <c:showBubbleSize val="0"/>
        </c:dLbls>
        <c:axId val="820053456"/>
        <c:axId val="820055168"/>
        <c:barDir val="col"/>
        <c:grouping val="clustered"/>
        <c:varyColors val="0"/>
        <c:ser>
          <c:idx val="1"/>
          <c:order val="0"/>
          <c:tx>
            <c:strRef>
              <c:f>Sheet1!$B$4</c:f>
              <c:strCache>
                <c:ptCount val="1"/>
                <c:pt idx="0">
                  <c:v>Market size (US$bn)</c:v>
                </c:pt>
              </c:strCache>
            </c:strRef>
          </c:tx>
          <c:spPr>
            <a:solidFill>
              <a:srgbClr val="0127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Manrope" pitchFamily="2" charset="0"/>
                    <a:ea typeface="+mn-ea"/>
                    <a:cs typeface="+mn-cs"/>
                  </a:defRPr>
                </a:pPr>
                <a:endParaRPr lang="en-VN" b="0" i="0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eparator>,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 xmlns:c="http://schemas.openxmlformats.org/drawingml/2006/chart">
                    <a:ln xmlns:a="http://schemas.openxmlformats.org/drawingml/2006/main"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 xmlns:a="http://schemas.openxmlformats.org/drawingml/2006/main"/>
                  </c:spPr>
                </c15:leaderLines>
              </c:ext>
            </c:extLst>
          </c:dLbls>
          <c:cat>
            <c:numRef>
              <c:f>'Sheet1'!$C$2:$G$2</c:f>
              <c:numCache>
                <c:formatCode>General</c:formatCode>
                <c:ptCount val="5"/>
                <c:pt idx="0">
                  <c:v>2025</c:v>
                </c:pt>
                <c:pt idx="1">
                  <c:v>2026</c:v>
                </c:pt>
                <c:pt idx="2">
                  <c:v>2027</c:v>
                </c:pt>
                <c:pt idx="3">
                  <c:v>2028</c:v>
                </c:pt>
                <c:pt idx="4">
                  <c:v>2029</c:v>
                </c:pt>
              </c:numCache>
            </c:numRef>
          </c:cat>
          <c:val>
            <c:numRef>
              <c:f>'Sheet1'!$C$4:$G$4</c:f>
              <c:numCache>
                <c:formatCode>_(* #,##0.0_);_(* \(#,##0.0\);_(* "-"_);_(@_)</c:formatCode>
                <c:ptCount val="5"/>
                <c:pt idx="0">
                  <c:v>16.1</c:v>
                </c:pt>
                <c:pt idx="1">
                  <c:v>17.66009</c:v>
                </c:pt>
                <c:pt idx="2">
                  <c:v>19.371352721</c:v>
                </c:pt>
                <c:pt idx="3">
                  <c:v>21.2484367996649</c:v>
                </c:pt>
                <c:pt idx="4">
                  <c:v>23.30741032555243</c:v>
                </c:pt>
              </c:numCache>
            </c:numRef>
          </c:val>
          <c:shape val="box"/>
          <c:extLst>
            <c:ext xmlns:c16="http://schemas.microsoft.com/office/drawing/2014/chart" uri="{C3380CC4-5D6E-409C-BE32-E72D297353CC}">
              <c16:uniqueId val="{00000000-5779-E749-89D0-D0AE65209F67}"/>
            </c:ext>
          </c:extLst>
        </c:ser>
        <c:gapWidth val="80"/>
        <c:overlap val="41"/>
      </c:barChart>
      <c:catAx>
        <c:axId val="82005345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VN" b="0" i="0"/>
          </a:p>
        </c:txPr>
        <c:crossAx val="820055168"/>
        <c:crosses val="autoZero"/>
        <c:auto val="1"/>
        <c:lblAlgn val="ctr"/>
        <c:lblOffset val="100"/>
        <c:noMultiLvlLbl val="0"/>
      </c:catAx>
      <c:valAx>
        <c:axId val="820055168"/>
        <c:scaling>
          <c:orientation val="minMax"/>
        </c:scaling>
        <c:delete val="1"/>
        <c:axPos val="l"/>
        <c:numFmt formatCode="_(* #,##0.0_);_(* \(#,##0.0\);_(* &quot;-&quot;_);_(@_)" sourceLinked="0"/>
        <c:majorTickMark val="none"/>
        <c:minorTickMark val="none"/>
        <c:tickLblPos val="nextTo"/>
        <c:spPr/>
        <c:txPr>
          <a:bodyPr/>
          <a:lstStyle/>
          <a:p>
            <a:pPr>
              <a:defRPr/>
            </a:pPr>
          </a:p>
        </c:txPr>
        <c:crossAx val="8200534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VN"/>
    </a:p>
  </c:txPr>
  <c:externalData r:id="rId3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 name="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b2d24ff4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b2d24ff4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 name="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5d80bea48c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5d80bea48c_2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fontAlgn="auto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endParaRPr lang="en-US" sz="1100" b="1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1pPr>
            <a:lvl2pPr lvl="1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2pPr>
            <a:lvl3pPr lvl="2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3pPr>
            <a:lvl4pPr lvl="3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4pPr>
            <a:lvl5pPr lvl="4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5pPr>
            <a:lvl6pPr lvl="5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6pPr>
            <a:lvl7pPr lvl="6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7pPr>
            <a:lvl8pPr lvl="7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8pPr>
            <a:lvl9pPr lvl="8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/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1pPr>
            <a:lvl2pPr lvl="1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2pPr>
            <a:lvl3pPr lvl="2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3pPr>
            <a:lvl4pPr lvl="3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4pPr>
            <a:lvl5pPr lvl="4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5pPr>
            <a:lvl6pPr lvl="5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6pPr>
            <a:lvl7pPr lvl="6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7pPr>
            <a:lvl8pPr lvl="7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8pPr>
            <a:lvl9pPr lvl="8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1pPr>
            <a:lvl2pPr lvl="1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2pPr>
            <a:lvl3pPr lvl="2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3pPr>
            <a:lvl4pPr lvl="3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4pPr>
            <a:lvl5pPr lvl="4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5pPr>
            <a:lvl6pPr lvl="5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6pPr>
            <a:lvl7pPr lvl="6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7pPr>
            <a:lvl8pPr lvl="7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8pPr>
            <a:lvl9pPr lvl="8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1pPr>
            <a:lvl2pPr lvl="1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2pPr>
            <a:lvl3pPr lvl="2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3pPr>
            <a:lvl4pPr lvl="3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4pPr>
            <a:lvl5pPr lvl="4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5pPr>
            <a:lvl6pPr lvl="5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6pPr>
            <a:lvl7pPr lvl="6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7pPr>
            <a:lvl8pPr lvl="7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8pPr>
            <a:lvl9pPr lvl="8">
              <a:spcBef>
                <a:spcPct val="0"/>
              </a:spcBef>
              <a:spcAft>
                <a:spcPct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/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b="0" i="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1pPr>
            <a:lvl2pPr lvl="1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2pPr>
            <a:lvl3pPr lvl="2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3pPr>
            <a:lvl4pPr lvl="3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4pPr>
            <a:lvl5pPr lvl="4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5pPr>
            <a:lvl6pPr lvl="5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6pPr>
            <a:lvl7pPr lvl="6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7pPr>
            <a:lvl8pPr lvl="7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8pPr>
            <a:lvl9pPr lvl="8" algn="ctr">
              <a:spcBef>
                <a:spcPct val="0"/>
              </a:spcBef>
              <a:spcAft>
                <a:spcPct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/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1pPr>
            <a:lvl2pPr lvl="1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2pPr>
            <a:lvl3pPr lvl="2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3pPr>
            <a:lvl4pPr lvl="3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4pPr>
            <a:lvl5pPr lvl="4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5pPr>
            <a:lvl6pPr lvl="5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6pPr>
            <a:lvl7pPr lvl="6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7pPr>
            <a:lvl8pPr lvl="7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8pPr>
            <a:lvl9pPr lvl="8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/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ct val="0"/>
              </a:spcBef>
              <a:spcAft>
                <a:spcPct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fast"/>
  <p:timing>
    <p:tnLst>
      <p:par>
        <p:cTn id="1" restart="never" nodeType="tmRoot"/>
      </p:par>
    </p:tnLst>
  </p:timing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b="0" i="0"/>
              <a:t>‹#›</a:t>
            </a:fld>
            <a:endParaRPr b="0" i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ransition spd="fast"/>
  <p:timing>
    <p:tnLst>
      <p:par>
        <p:cTn id="1" restart="never" nodeType="tmRoot"/>
      </p:par>
    </p:tnLst>
  </p:timing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chart" Target="../charts/chart1.xml"/><Relationship Id="rId5" Type="http://schemas.openxmlformats.org/officeDocument/2006/relationships/image" Target="../media/image9.jpeg"/><Relationship Id="rId6" Type="http://schemas.openxmlformats.org/officeDocument/2006/relationships/image" Target="../media/image7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335150" y="3994575"/>
            <a:ext cx="8497200" cy="1998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D6EBFF"/>
              </a:gs>
              <a:gs pos="100000">
                <a:schemeClr val="lt1"/>
              </a:gs>
            </a:gsLst>
            <a:lin ang="10800025" scaled="0"/>
            <a:tileRect/>
          </a:gradFill>
          <a:ln>
            <a:noFill/>
          </a:ln>
          <a:effectLst>
            <a:outerShdw blurRad="57150" dir="540000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/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SzPts val="990"/>
              <a:buNone/>
            </a:pPr>
            <a:r>
              <a:rPr lang="en-GB" sz="1300" b="1" dirty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A decade of innovation, growth with digital frontier</a:t>
            </a:r>
            <a:endParaRPr sz="1300" b="1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311700" y="728817"/>
            <a:ext cx="8520600" cy="405300"/>
          </a:xfrm>
          <a:prstGeom prst="rect"/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SzPts val="891"/>
              <a:buNone/>
            </a:pPr>
            <a:r>
              <a:rPr lang="en-GB" sz="1100" i="1" dirty="1">
                <a:latin typeface="Manrope"/>
                <a:ea typeface="Manrope"/>
                <a:cs typeface="Manrope"/>
                <a:sym typeface="Manrope"/>
              </a:rPr>
              <a:t>The comprehensive suite of marketing and branding solutions with cultural depth and digital leadership</a:t>
            </a:r>
            <a:endParaRPr sz="1100" i="1"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72" name="Google Shape;72;p14"/>
          <p:cNvCxnSpPr>
            <a:stCxn id="73" idx="1"/>
          </p:cNvCxnSpPr>
          <p:nvPr/>
        </p:nvCxnSpPr>
        <p:spPr>
          <a:xfrm>
            <a:off x="2499263" y="1665329"/>
            <a:ext cx="0" cy="2429400"/>
          </a:xfrm>
          <a:prstGeom prst="straightConnector1"/>
          <a:noFill/>
          <a:ln w="9525" cap="flat" cmpd="sng">
            <a:solidFill>
              <a:srgbClr val="436E9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" name="Google Shape;74;p14"/>
          <p:cNvCxnSpPr>
            <a:stCxn id="75" idx="1"/>
          </p:cNvCxnSpPr>
          <p:nvPr/>
        </p:nvCxnSpPr>
        <p:spPr>
          <a:xfrm>
            <a:off x="6874400" y="1295804"/>
            <a:ext cx="0" cy="2797200"/>
          </a:xfrm>
          <a:prstGeom prst="straightConnector1"/>
          <a:noFill/>
          <a:ln w="9525" cap="flat" cmpd="sng">
            <a:solidFill>
              <a:srgbClr val="FFF0C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" name="Google Shape;76;p14"/>
          <p:cNvCxnSpPr>
            <a:stCxn id="77" idx="1"/>
          </p:cNvCxnSpPr>
          <p:nvPr/>
        </p:nvCxnSpPr>
        <p:spPr>
          <a:xfrm>
            <a:off x="4686838" y="1484579"/>
            <a:ext cx="0" cy="2639700"/>
          </a:xfrm>
          <a:prstGeom prst="straightConnector1"/>
          <a:noFill/>
          <a:ln w="9525" cap="flat" cmpd="sng">
            <a:solidFill>
              <a:srgbClr val="DBC086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9" name="Google Shape;79;p14"/>
          <p:cNvPicPr preferRelativeResize="0"/>
          <p:nvPr/>
        </p:nvPicPr>
        <p:blipFill>
          <a:blip xmlns:r="http://schemas.openxmlformats.org/officeDocument/2006/relationships" r:embed="rId3">
            <a:alphaModFix/>
          </a:blip>
          <a:srcRect/>
          <a:stretch>
            <a:fillRect/>
          </a:stretch>
        </p:blipFill>
        <p:spPr>
          <a:xfrm>
            <a:off x="8165375" y="197625"/>
            <a:ext cx="666925" cy="666925"/>
          </a:xfrm>
          <a:prstGeom prst="rect"/>
          <a:noFill/>
          <a:ln>
            <a:noFill/>
          </a:ln>
        </p:spPr>
      </p:pic>
      <p:cxnSp>
        <p:nvCxnSpPr>
          <p:cNvPr id="80" name="Google Shape;80;p14"/>
          <p:cNvCxnSpPr>
            <a:stCxn id="81" idx="1"/>
          </p:cNvCxnSpPr>
          <p:nvPr/>
        </p:nvCxnSpPr>
        <p:spPr>
          <a:xfrm>
            <a:off x="311700" y="1867804"/>
            <a:ext cx="0" cy="2224500"/>
          </a:xfrm>
          <a:prstGeom prst="straightConnector1"/>
          <a:noFill/>
          <a:ln w="9525" cap="flat" cmpd="sng">
            <a:solidFill>
              <a:srgbClr val="01284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" name="Google Shape;82;p14"/>
          <p:cNvSpPr/>
          <p:nvPr/>
        </p:nvSpPr>
        <p:spPr>
          <a:xfrm>
            <a:off x="311700" y="3840675"/>
            <a:ext cx="507600" cy="507600"/>
          </a:xfrm>
          <a:prstGeom prst="ellipse"/>
          <a:solidFill>
            <a:srgbClr val="01284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r="540000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2499275" y="3840675"/>
            <a:ext cx="507600" cy="507600"/>
          </a:xfrm>
          <a:prstGeom prst="ellipse"/>
          <a:solidFill>
            <a:srgbClr val="436E99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r="540000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686838" y="3840675"/>
            <a:ext cx="507600" cy="507600"/>
          </a:xfrm>
          <a:prstGeom prst="ellipse"/>
          <a:solidFill>
            <a:srgbClr val="DBC086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r="540000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6874425" y="3840675"/>
            <a:ext cx="507600" cy="507600"/>
          </a:xfrm>
          <a:prstGeom prst="ellipse"/>
          <a:solidFill>
            <a:srgbClr val="FFF0CF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r="5400000" dist="1905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311700" y="1706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solidFill>
              <a:srgbClr val="0128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 dirty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Founding vision &amp; inception</a:t>
            </a:r>
            <a:endParaRPr sz="900" b="1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311700" y="2065840"/>
            <a:ext cx="1950600" cy="1738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&lt;i&gt; use the content of this component, don’t change, don’t duplicate the content</a:t>
            </a:r>
          </a:p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Founded </a:t>
            </a: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in 2015 with the mission of “sharing </a:t>
            </a: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happyness</a:t>
            </a: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” as a digital and creative partner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Emphasized a deep understanding of Vietnamese culture with the embedded digital frontier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2499263" y="150362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436E99"/>
          </a:solidFill>
          <a:ln w="9525" cap="flat" cmpd="sng">
            <a:solidFill>
              <a:srgbClr val="436E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 dirty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Introduction of the XPhin Model</a:t>
            </a:r>
            <a:endParaRPr sz="900" b="1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2499267" y="1843518"/>
            <a:ext cx="1950600" cy="19608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2</a:t>
            </a:r>
            <a:r>
              <a:rPr lang="en-GB" sz="900" baseline="30000" dirty="1">
                <a:latin typeface="Manrope"/>
                <a:ea typeface="Manrope"/>
                <a:cs typeface="Manrope"/>
                <a:sym typeface="Manrope"/>
              </a:rPr>
              <a:t>nd</a:t>
            </a: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 column</a:t>
            </a:r>
          </a:p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Developed </a:t>
            </a: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the proprietary XPhin Model, a strategic and creative planning framework inspired by the Vietnamese phin coffee filter, symbolizing a meticulous and culturally grounded approach to campaign development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4686838" y="1322879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DCC086"/>
          </a:solidFill>
          <a:ln w="9525" cap="flat" cmpd="sng">
            <a:solidFill>
              <a:srgbClr val="DBC08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 dirty="1">
                <a:latin typeface="Manrope"/>
                <a:ea typeface="Manrope"/>
                <a:cs typeface="Manrope"/>
                <a:sym typeface="Manrope"/>
              </a:rPr>
              <a:t>Expansion of services &amp; client base</a:t>
            </a:r>
            <a:endParaRPr sz="9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4686833" y="1662678"/>
            <a:ext cx="1950600" cy="21417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Expanded to a comprehensive service suite: creative solutions, 360 digital performance, social management, influence hacking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Collaborated with 100+ clients and 500+ projects across various industries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6874400" y="1134104"/>
            <a:ext cx="1950600" cy="323400"/>
          </a:xfrm>
          <a:prstGeom prst="roundRect">
            <a:avLst>
              <a:gd name="adj" fmla="val 19287"/>
            </a:avLst>
          </a:prstGeom>
          <a:solidFill>
            <a:srgbClr val="FEF1CF"/>
          </a:solidFill>
          <a:ln w="9525" cap="flat" cmpd="sng">
            <a:solidFill>
              <a:srgbClr val="FFF0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 dirty="1">
                <a:latin typeface="Manrope"/>
                <a:ea typeface="Manrope"/>
                <a:cs typeface="Manrope"/>
                <a:sym typeface="Manrope"/>
              </a:rPr>
              <a:t>Launch of Xanh &amp; Partners</a:t>
            </a:r>
            <a:endParaRPr sz="900" b="1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6874400" y="1482866"/>
            <a:ext cx="1950600" cy="23214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9999" lvl="0" indent="-147149" algn="l" rtl="0">
              <a:lnSpc>
                <a:spcPct val="114000"/>
              </a:lnSpc>
              <a:spcBef>
                <a:spcPct val="0"/>
              </a:spcBef>
              <a:spcAft>
                <a:spcPts val="600"/>
              </a:spcAft>
              <a:buSzPts val="900"/>
              <a:buFont typeface="Manrope"/>
              <a:buChar char="●"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Introduced the end-to-end integrated solutions comprising: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158100" y="3907725"/>
            <a:ext cx="814800" cy="3645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dirty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2015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2345667" y="3907725"/>
            <a:ext cx="814800" cy="3645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dirty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2019</a:t>
            </a:r>
            <a:endParaRPr sz="9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4533258" y="3907725"/>
            <a:ext cx="814800" cy="3645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2020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6720825" y="3907725"/>
            <a:ext cx="814800" cy="364500"/>
          </a:xfrm>
          <a:prstGeom prst="rect"/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dirty="1">
                <a:latin typeface="Manrope"/>
                <a:ea typeface="Manrope"/>
                <a:cs typeface="Manrope"/>
                <a:sym typeface="Manrope"/>
              </a:rPr>
              <a:t>2023</a:t>
            </a:r>
            <a:endParaRPr sz="900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xmlns:r="http://schemas.openxmlformats.org/officeDocument/2006/relationships" r:embed="rId4">
            <a:alphaModFix/>
          </a:blip>
          <a:srcRect/>
          <a:stretch>
            <a:fillRect/>
          </a:stretch>
        </p:blipFill>
        <p:spPr>
          <a:xfrm>
            <a:off x="2937805" y="3230940"/>
            <a:ext cx="1073524" cy="604038"/>
          </a:xfrm>
          <a:prstGeom prst="rect"/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xmlns:r="http://schemas.openxmlformats.org/officeDocument/2006/relationships" r:embed="rId5">
            <a:alphaModFix/>
          </a:blip>
          <a:srcRect/>
          <a:stretch>
            <a:fillRect/>
          </a:stretch>
        </p:blipFill>
        <p:spPr>
          <a:xfrm>
            <a:off x="7017575" y="2128229"/>
            <a:ext cx="364450" cy="364450"/>
          </a:xfrm>
          <a:prstGeom prst="rect"/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7017575" y="3241967"/>
            <a:ext cx="730800" cy="364500"/>
          </a:xfrm>
          <a:prstGeom prst="rect"/>
          <a:solidFill>
            <a:srgbClr val="DBC0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7" name="Google Shape;97;p14"/>
          <p:cNvPicPr preferRelativeResize="0"/>
          <p:nvPr/>
        </p:nvPicPr>
        <p:blipFill>
          <a:blip xmlns:r="http://schemas.openxmlformats.org/officeDocument/2006/relationships" r:embed="rId6">
            <a:alphaModFix/>
          </a:blip>
          <a:srcRect/>
          <a:stretch>
            <a:fillRect/>
          </a:stretch>
        </p:blipFill>
        <p:spPr>
          <a:xfrm>
            <a:off x="7017575" y="2693441"/>
            <a:ext cx="364451" cy="364451"/>
          </a:xfrm>
          <a:prstGeom prst="rect"/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>
          <a:blip xmlns:r="http://schemas.openxmlformats.org/officeDocument/2006/relationships" r:embed="rId7">
            <a:alphaModFix/>
          </a:blip>
          <a:srcRect/>
          <a:stretch>
            <a:fillRect/>
          </a:stretch>
        </p:blipFill>
        <p:spPr>
          <a:xfrm>
            <a:off x="7049500" y="3336666"/>
            <a:ext cx="666926" cy="155007"/>
          </a:xfrm>
          <a:prstGeom prst="rect"/>
          <a:noFill/>
          <a:ln>
            <a:noFill/>
          </a:ln>
        </p:spPr>
      </p:pic>
      <p:sp>
        <p:nvSpPr>
          <p:cNvPr id="99" name="Google Shape;99;p14"/>
          <p:cNvSpPr/>
          <p:nvPr/>
        </p:nvSpPr>
        <p:spPr>
          <a:xfrm>
            <a:off x="7343339" y="2127242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700" dirty="1">
                <a:latin typeface="Manrope"/>
                <a:ea typeface="Manrope"/>
                <a:cs typeface="Manrope"/>
                <a:sym typeface="Manrope"/>
              </a:rPr>
              <a:t>Social-tainment marketing</a:t>
            </a:r>
            <a:endParaRPr sz="7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7343339" y="2678067"/>
            <a:ext cx="13716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700" dirty="1">
                <a:latin typeface="Manrope"/>
                <a:ea typeface="Manrope"/>
                <a:cs typeface="Manrope"/>
                <a:sym typeface="Manrope"/>
              </a:rPr>
              <a:t>Ecommerce enablement and solutions</a:t>
            </a:r>
            <a:endParaRPr sz="7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7705290" y="3228892"/>
            <a:ext cx="1053300" cy="364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700" dirty="1">
                <a:latin typeface="Manrope"/>
                <a:ea typeface="Manrope"/>
                <a:cs typeface="Manrope"/>
                <a:sym typeface="Manrope"/>
              </a:rPr>
              <a:t>Creative production house</a:t>
            </a:r>
            <a:endParaRPr sz="700"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311700" y="428950"/>
            <a:ext cx="8520600" cy="405300"/>
          </a:xfrm>
          <a:prstGeom prst="rect"/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SzPts val="990"/>
              <a:buNone/>
            </a:pPr>
            <a:r>
              <a:rPr lang="en-GB" sz="1300" b="1" dirty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Vietnam’s ecommerce and social commerce boom - a digital gold rush</a:t>
            </a:r>
            <a:endParaRPr sz="1300" b="1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title"/>
          </p:nvPr>
        </p:nvSpPr>
        <p:spPr>
          <a:xfrm>
            <a:off x="311700" y="675900"/>
            <a:ext cx="8520600" cy="405300"/>
          </a:xfrm>
          <a:prstGeom prst="rect"/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SzPts val="891"/>
              <a:buNone/>
            </a:pPr>
            <a:r>
              <a:rPr lang="en-GB" sz="1100" i="1" dirty="1">
                <a:latin typeface="Manrope"/>
                <a:ea typeface="Manrope"/>
                <a:cs typeface="Manrope"/>
                <a:sym typeface="Manrope"/>
              </a:rPr>
              <a:t>Riding the next wave of digital commerce: platforms, creators, and social engagement</a:t>
            </a:r>
            <a:endParaRPr sz="1100" i="1"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>
          <a:blip xmlns:r="http://schemas.openxmlformats.org/officeDocument/2006/relationships" r:embed="rId3">
            <a:alphaModFix/>
          </a:blip>
          <a:srcRect/>
          <a:stretch>
            <a:fillRect/>
          </a:stretch>
        </p:blipFill>
        <p:spPr>
          <a:xfrm>
            <a:off x="8165375" y="197625"/>
            <a:ext cx="666925" cy="666925"/>
          </a:xfrm>
          <a:prstGeom prst="rect"/>
          <a:noFill/>
          <a:ln>
            <a:noFill/>
          </a:ln>
        </p:spPr>
      </p:pic>
      <p:sp>
        <p:nvSpPr>
          <p:cNvPr id="117" name="Google Shape;117;p15"/>
          <p:cNvSpPr/>
          <p:nvPr/>
        </p:nvSpPr>
        <p:spPr>
          <a:xfrm>
            <a:off x="311700" y="1044807"/>
            <a:ext cx="4160100" cy="357000"/>
          </a:xfrm>
          <a:prstGeom prst="rect"/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 b="1" i="0" dirty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&lt;i&gt;Keep this “Ecommerce </a:t>
            </a:r>
            <a:r>
              <a:rPr lang="en-GB" sz="1100" b="1" i="0" dirty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is still on </a:t>
            </a:r>
            <a:r>
              <a:rPr lang="en-GB" sz="1100" b="1" i="0" dirty="1">
                <a:solidFill>
                  <a:srgbClr val="01284F"/>
                </a:solidFill>
                <a:latin typeface="Manrope"/>
                <a:ea typeface="Manrope"/>
                <a:cs typeface="Manrope"/>
                <a:sym typeface="Manrope"/>
              </a:rPr>
              <a:t>the rise”</a:t>
            </a:r>
            <a:endParaRPr sz="1100" b="1" i="0">
              <a:solidFill>
                <a:srgbClr val="01284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cxnSp>
        <p:nvCxnSpPr>
          <p:cNvPr id="118" name="Google Shape;118;p15"/>
          <p:cNvCxnSpPr/>
          <p:nvPr/>
        </p:nvCxnSpPr>
        <p:spPr>
          <a:xfrm>
            <a:off x="311700" y="1387944"/>
            <a:ext cx="8521150" cy="0"/>
          </a:xfrm>
          <a:prstGeom prst="straightConnector1"/>
          <a:noFill/>
          <a:ln w="9525" cap="flat" cmpd="sng">
            <a:solidFill>
              <a:srgbClr val="01274F"/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2" name="Chart 1"/>
          <p:cNvGraphicFramePr/>
          <p:nvPr>
            <p:extLst>
              <p:ext uri="{D42A27DB-BD31-4B8C-83A1-F6EECF244321}">
                <p14:modId xmlns:p14="http://schemas.microsoft.com/office/powerpoint/2010/main" val="117393232"/>
              </p:ext>
            </p:extLst>
          </p:nvPr>
        </p:nvGraphicFramePr>
        <p:xfrm>
          <a:off x="318999" y="1913654"/>
          <a:ext cx="4918019" cy="18646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Google Shape;117;p15"/>
          <p:cNvSpPr/>
          <p:nvPr/>
        </p:nvSpPr>
        <p:spPr>
          <a:xfrm>
            <a:off x="311700" y="1436607"/>
            <a:ext cx="3225000" cy="152588"/>
          </a:xfrm>
          <a:prstGeom prst="rect"/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&lt;i&gt; Vietnam’s </a:t>
            </a:r>
            <a:r>
              <a:rPr lang="en-GB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ecommerce industry, </a:t>
            </a:r>
            <a:r>
              <a:rPr lang="en-GB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US$bn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9" name="Google Shape;81;p14"/>
          <p:cNvSpPr/>
          <p:nvPr/>
        </p:nvSpPr>
        <p:spPr>
          <a:xfrm>
            <a:off x="5452171" y="1594034"/>
            <a:ext cx="3380679" cy="161700"/>
          </a:xfrm>
          <a:prstGeom prst="roundRect">
            <a:avLst>
              <a:gd name="adj" fmla="val 19287"/>
            </a:avLst>
          </a:prstGeom>
          <a:solidFill>
            <a:srgbClr val="01284F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 i="0" dirty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Key drivers</a:t>
            </a:r>
            <a:endParaRPr sz="900" b="1" i="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9" name="Google Shape;125;p15"/>
          <p:cNvSpPr/>
          <p:nvPr/>
        </p:nvSpPr>
        <p:spPr>
          <a:xfrm>
            <a:off x="348882" y="3859393"/>
            <a:ext cx="8483418" cy="836745"/>
          </a:xfrm>
          <a:prstGeom prst="rect"/>
          <a:solidFill>
            <a:srgbClr val="01274F"/>
          </a:solidFill>
          <a:ln w="38100" cap="flat" cmpd="sng">
            <a:solidFill>
              <a:srgbClr val="0127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10000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r>
              <a:rPr lang="en-US" sz="900" b="0" i="0" dirty="1">
                <a:solidFill>
                  <a:schemeClr val="bg1"/>
                </a:solidFill>
                <a:latin typeface="Manrope" pitchFamily="2" charset="0"/>
              </a:rPr>
              <a:t>This component is used for placing the information of the spotlight competitor in the industry</a:t>
            </a:r>
            <a:endParaRPr lang="en-US" sz="900" b="0" i="0">
              <a:solidFill>
                <a:schemeClr val="bg1"/>
              </a:solidFill>
              <a:latin typeface="Manrope" pitchFamily="2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8880" y="3859393"/>
            <a:ext cx="754999" cy="836745"/>
          </a:xfrm>
          <a:prstGeom prst="rect"/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L="0" marR="0" lvl="0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1pPr>
            <a:lvl2pPr marL="0" marR="0" lvl="1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2pPr>
            <a:lvl3pPr marL="0" marR="0" lvl="2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3pPr>
            <a:lvl4pPr marL="0" marR="0" lvl="3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4pPr>
            <a:lvl5pPr marL="0" marR="0" lvl="4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5pPr>
            <a:lvl6pPr marL="0" marR="0" lvl="5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6pPr>
            <a:lvl7pPr marL="0" marR="0" lvl="6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7pPr>
            <a:lvl8pPr marL="0" marR="0" lvl="7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8pPr>
            <a:lvl9pPr marL="0" marR="0" lvl="8" indent="0" algn="l" defTabSz="914400" fontAlgn="auto" rtl="0" eaLnBrk="0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defRPr kumimoji="0" sz="1400" b="0" i="0" u="none" strike="noStrike" kern="1200" cap="none" spc="0" normalizeH="0" baseline="0" noProof="0">
                <a:solidFill>
                  <a:srgbClr val="FFFFFF"/>
                </a:solidFill>
                <a:uLnTx/>
                <a:uFillTx/>
                <a:latin typeface="Cambria" panose="02040503050406030204"/>
                <a:ea typeface=""/>
                <a:cs typeface="Arial"/>
                <a:sym typeface="Arial"/>
              </a:defRPr>
            </a:lvl9pPr>
          </a:lstStyle>
          <a:p>
            <a:pPr algn="ctr"/>
            <a:endParaRPr lang="en-GB" b="0" i="0"/>
          </a:p>
        </p:txBody>
      </p:sp>
      <p:pic>
        <p:nvPicPr>
          <p:cNvPr id="1028" name="Picture 4" descr="Onpoint E-commerce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5"/>
          <a:srcRect t="37872" b="38527"/>
          <a:stretch>
            <a:fillRect/>
          </a:stretch>
        </p:blipFill>
        <p:spPr>
          <a:xfrm>
            <a:off x="374691" y="4205029"/>
            <a:ext cx="703376" cy="165847"/>
          </a:xfrm>
          <a:prstGeom prst="rect"/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Google Shape;81;p14"/>
          <p:cNvSpPr/>
          <p:nvPr/>
        </p:nvSpPr>
        <p:spPr>
          <a:xfrm>
            <a:off x="5867807" y="1799915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High internet penetration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" name="Google Shape;81;p14"/>
          <p:cNvSpPr/>
          <p:nvPr/>
        </p:nvSpPr>
        <p:spPr>
          <a:xfrm>
            <a:off x="5867808" y="2321658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Young, tech-savvy population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" name="Google Shape;81;p14"/>
          <p:cNvSpPr/>
          <p:nvPr/>
        </p:nvSpPr>
        <p:spPr>
          <a:xfrm>
            <a:off x="5867808" y="289004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Social media integration &amp; shoppertainment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030" name="Picture 6" descr="Globe 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6"/>
          <a:srcRect/>
          <a:stretch>
            <a:fillRect/>
          </a:stretch>
        </p:blipFill>
        <p:spPr>
          <a:xfrm>
            <a:off x="5456943" y="1970764"/>
            <a:ext cx="297586" cy="297586"/>
          </a:xfrm>
          <a:prstGeom prst="rect"/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ouch 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7"/>
          <a:srcRect/>
          <a:stretch>
            <a:fillRect/>
          </a:stretch>
        </p:blipFill>
        <p:spPr>
          <a:xfrm>
            <a:off x="5461250" y="2532996"/>
            <a:ext cx="303283" cy="303283"/>
          </a:xfrm>
          <a:prstGeom prst="rect"/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ommunication "/>
          <p:cNvPicPr>
            <a:picLocks noChangeAspect="1" noChangeArrowheads="1"/>
          </p:cNvPicPr>
          <p:nvPr/>
        </p:nvPicPr>
        <p:blipFill>
          <a:blip xmlns:r="http://schemas.openxmlformats.org/officeDocument/2006/relationships" r:embed="rId8"/>
          <a:srcRect/>
          <a:stretch>
            <a:fillRect/>
          </a:stretch>
        </p:blipFill>
        <p:spPr>
          <a:xfrm>
            <a:off x="5452171" y="3091987"/>
            <a:ext cx="341276" cy="341276"/>
          </a:xfrm>
          <a:prstGeom prst="rect"/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1;p14"/>
          <p:cNvSpPr/>
          <p:nvPr/>
        </p:nvSpPr>
        <p:spPr>
          <a:xfrm>
            <a:off x="5867807" y="2042566"/>
            <a:ext cx="1646495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" name="Google Shape;81;p14"/>
          <p:cNvSpPr/>
          <p:nvPr/>
        </p:nvSpPr>
        <p:spPr>
          <a:xfrm>
            <a:off x="5867808" y="2556726"/>
            <a:ext cx="1646494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" name="Google Shape;81;p14"/>
          <p:cNvSpPr/>
          <p:nvPr/>
        </p:nvSpPr>
        <p:spPr>
          <a:xfrm>
            <a:off x="5867808" y="3147354"/>
            <a:ext cx="2965042" cy="514621"/>
          </a:xfrm>
          <a:prstGeom prst="roundRect">
            <a:avLst>
              <a:gd name="adj" fmla="val 10243"/>
            </a:avLst>
          </a:prstGeom>
          <a:noFill/>
          <a:ln w="127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</a:lstStyle>
          <a:p>
            <a:pPr marL="0" lvl="0" indent="0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sz="700" b="0" i="0" dirty="1">
                <a:solidFill>
                  <a:schemeClr val="tx1"/>
                </a:solidFill>
                <a:latin typeface="Manrope"/>
                <a:ea typeface="Manrope"/>
                <a:cs typeface="Manrope"/>
                <a:sym typeface="Manrope"/>
              </a:rPr>
              <a:t>Description</a:t>
            </a:r>
            <a:endParaRPr sz="700" b="0" i="0">
              <a:solidFill>
                <a:schemeClr val="tx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  <p:transition spd="fast"/>
  <p:timing>
    <p:tnLst>
      <p:par>
        <p:cTn id="1" restart="never" nodeType="tmRoot"/>
      </p:par>
    </p:tnLst>
  </p:timing>
</p:sld>
</file>

<file path=ppt/tags/tag1.xml><?xml version="1.0" encoding="utf-8"?>
<p:tagLst xmlns:p="http://schemas.openxmlformats.org/presentationml/2006/main">
  <p:tag name="AS_NET" val="7.0.20"/>
  <p:tag name="AS_OS" val="Microsoft Windows NT 10.0.26200.0"/>
  <p:tag name="AS_RELEASE_DATE" val="2013.12.17"/>
  <p:tag name="AS_TITLE" val="Spire.Presentation for .NET "/>
  <p:tag name="AS_VERSION" val="2.1.0.0"/>
</p:tagLst>
</file>

<file path=ppt/theme/theme1.xml><?xml version="1.0" encoding="utf-8"?>
<a:theme xmlns:a="http://schemas.openxmlformats.org/drawing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Uigh" typeface="Microsoft Uighur"/>
        <a:font script="Jpan" typeface="ＭＳ Ｐゴシック"/>
        <a:font script="Tibt" typeface="Microsoft Himalaya"/>
        <a:font script="Ethi" typeface="Nyala"/>
        <a:font script="Laoo" typeface="DokChampa"/>
        <a:font script="Yiii" typeface="Microsoft Yi Baiti"/>
        <a:font script="Arab" typeface="Times New Roman"/>
        <a:font script="Khmr" typeface="MoolBoran"/>
        <a:font script="Syrc" typeface="Estrangelo Edessa"/>
        <a:font script="Gujr" typeface="Shruti"/>
        <a:font script="Orya" typeface="Kalinga"/>
        <a:font script="Hant" typeface="新細明體"/>
        <a:font script="Telu" typeface="Gautami"/>
        <a:font script="Hebr" typeface="Times New Roman"/>
        <a:font script="Thai" typeface="Angsana New"/>
        <a:font script="Sinh" typeface="Iskoola Pota"/>
        <a:font script="Cher" typeface="Plantagenet Cherokee"/>
        <a:font script="Mlym" typeface="Kartika"/>
        <a:font script="Hans" typeface="宋体"/>
        <a:font script="Mong" typeface="Mongolian Baiti"/>
        <a:font script="Guru" typeface="Raavi"/>
        <a:font script="Thaa" typeface="MV Boli"/>
        <a:font script="Hang" typeface="맑은 고딕"/>
        <a:font script="Viet" typeface="Times New Roman"/>
        <a:font script="Cans" typeface="Euphemia"/>
        <a:font script="Beng" typeface="Vrinda"/>
        <a:font script="Deva" typeface="Mangal"/>
        <a:font script="Taml" typeface="Latha"/>
        <a:font script="Geor" typeface="Sylfaen"/>
        <a:font script="Knda" typeface="Tunga"/>
      </a:majorFont>
      <a:minorFont>
        <a:latin typeface="Arial"/>
        <a:ea typeface=""/>
        <a:cs typeface=""/>
        <a:font script="Uigh" typeface="Microsoft Uighur"/>
        <a:font script="Jpan" typeface="ＭＳ Ｐゴシック"/>
        <a:font script="Tibt" typeface="Microsoft Himalaya"/>
        <a:font script="Ethi" typeface="Nyala"/>
        <a:font script="Laoo" typeface="DokChampa"/>
        <a:font script="Yiii" typeface="Microsoft Yi Baiti"/>
        <a:font script="Arab" typeface="Arial"/>
        <a:font script="Khmr" typeface="DaunPenh"/>
        <a:font script="Syrc" typeface="Estrangelo Edessa"/>
        <a:font script="Gujr" typeface="Shruti"/>
        <a:font script="Orya" typeface="Kalinga"/>
        <a:font script="Hant" typeface="新細明體"/>
        <a:font script="Telu" typeface="Gautami"/>
        <a:font script="Hebr" typeface="Arial"/>
        <a:font script="Thai" typeface="Cordia New"/>
        <a:font script="Sinh" typeface="Iskoola Pota"/>
        <a:font script="Cher" typeface="Plantagenet Cherokee"/>
        <a:font script="Mlym" typeface="Kartika"/>
        <a:font script="Hans" typeface="宋体"/>
        <a:font script="Mong" typeface="Mongolian Baiti"/>
        <a:font script="Guru" typeface="Raavi"/>
        <a:font script="Thaa" typeface="MV Boli"/>
        <a:font script="Hang" typeface="맑은 고딕"/>
        <a:font script="Viet" typeface="Arial"/>
        <a:font script="Cans" typeface="Euphemia"/>
        <a:font script="Beng" typeface="Vrinda"/>
        <a:font script="Deva" typeface="Mangal"/>
        <a:font script="Taml" typeface="Latha"/>
        <a:font script="Geor" typeface="Sylfaen"/>
        <a:font script="Knda" typeface="Tung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mbria">
      <a:majorFont>
        <a:latin typeface="Cambria" panose="02040503050406030204"/>
        <a:ea typeface=""/>
        <a:cs typeface=""/>
        <a:font script="Uigh" typeface="Microsoft Uighur"/>
        <a:font script="Jpan" typeface="HG明朝B"/>
        <a:font script="Tibt" typeface="Microsoft Himalaya"/>
        <a:font script="Ethi" typeface="Nyala"/>
        <a:font script="Laoo" typeface="DokChampa"/>
        <a:font script="Yiii" typeface="Microsoft Yi Baiti"/>
        <a:font script="Arab" typeface="Times New Roman"/>
        <a:font script="Khmr" typeface="MoolBoran"/>
        <a:font script="Syrc" typeface="Estrangelo Edessa"/>
        <a:font script="Gujr" typeface="Shruti"/>
        <a:font script="Orya" typeface="Kalinga"/>
        <a:font script="Hant" typeface="新細明體"/>
        <a:font script="Telu" typeface="Gautami"/>
        <a:font script="Hebr" typeface="Times New Roman"/>
        <a:font script="Thai" typeface="Angsana New"/>
        <a:font script="Sinh" typeface="Iskoola Pota"/>
        <a:font script="Cher" typeface="Plantagenet Cherokee"/>
        <a:font script="Mlym" typeface="Kartika"/>
        <a:font script="Hans" typeface="黑体"/>
        <a:font script="Mong" typeface="Mongolian Baiti"/>
        <a:font script="Guru" typeface="Raavi"/>
        <a:font script="Thaa" typeface="MV Boli"/>
        <a:font script="Hang" typeface="맑은 고딕"/>
        <a:font script="Viet" typeface="Times New Roman"/>
        <a:font script="Cans" typeface="Euphemia"/>
        <a:font script="Beng" typeface="Vrinda"/>
        <a:font script="Deva" typeface="Mangal"/>
        <a:font script="Taml" typeface="Latha"/>
        <a:font script="Geor" typeface="Sylfaen"/>
        <a:font script="Knda" typeface="Tunga"/>
      </a:majorFont>
      <a:minorFont>
        <a:latin typeface="Cambria" panose="02040503050406030204"/>
        <a:ea typeface=""/>
        <a:cs typeface=""/>
        <a:font script="Uigh" typeface="Microsoft Uighur"/>
        <a:font script="Jpan" typeface="HG明朝B"/>
        <a:font script="Tibt" typeface="Microsoft Himalaya"/>
        <a:font script="Ethi" typeface="Nyala"/>
        <a:font script="Laoo" typeface="DokChampa"/>
        <a:font script="Yiii" typeface="Microsoft Yi Baiti"/>
        <a:font script="Arab" typeface="Times New Roman"/>
        <a:font script="Khmr" typeface="MoolBoran"/>
        <a:font script="Syrc" typeface="Estrangelo Edessa"/>
        <a:font script="Gujr" typeface="Shruti"/>
        <a:font script="Orya" typeface="Kalinga"/>
        <a:font script="Hant" typeface="新細明體"/>
        <a:font script="Telu" typeface="Gautami"/>
        <a:font script="Hebr" typeface="Times New Roman"/>
        <a:font script="Thai" typeface="Angsana New"/>
        <a:font script="Sinh" typeface="Iskoola Pota"/>
        <a:font script="Cher" typeface="Plantagenet Cherokee"/>
        <a:font script="Mlym" typeface="Kartika"/>
        <a:font script="Hans" typeface="黑体"/>
        <a:font script="Mong" typeface="Mongolian Baiti"/>
        <a:font script="Guru" typeface="Raavi"/>
        <a:font script="Thaa" typeface="MV Boli"/>
        <a:font script="Hang" typeface="맑은 고딕"/>
        <a:font script="Viet" typeface="Times New Roman"/>
        <a:font script="Cans" typeface="Euphemia"/>
        <a:font script="Beng" typeface="Vrinda"/>
        <a:font script="Deva" typeface="Mangal"/>
        <a:font script="Taml" typeface="Latha"/>
        <a:font script="Geor" typeface="Sylfaen"/>
        <a:font script="Knda" typeface="Tung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Cambria">
      <a:majorFont>
        <a:latin typeface="Cambria" panose="02040503050406030204"/>
        <a:ea typeface=""/>
        <a:cs typeface=""/>
        <a:font script="Uigh" typeface="Microsoft Uighur"/>
        <a:font script="Jpan" typeface="HG明朝B"/>
        <a:font script="Tibt" typeface="Microsoft Himalaya"/>
        <a:font script="Ethi" typeface="Nyala"/>
        <a:font script="Laoo" typeface="DokChampa"/>
        <a:font script="Yiii" typeface="Microsoft Yi Baiti"/>
        <a:font script="Arab" typeface="Times New Roman"/>
        <a:font script="Khmr" typeface="MoolBoran"/>
        <a:font script="Syrc" typeface="Estrangelo Edessa"/>
        <a:font script="Gujr" typeface="Shruti"/>
        <a:font script="Orya" typeface="Kalinga"/>
        <a:font script="Hant" typeface="新細明體"/>
        <a:font script="Telu" typeface="Gautami"/>
        <a:font script="Hebr" typeface="Times New Roman"/>
        <a:font script="Thai" typeface="Angsana New"/>
        <a:font script="Sinh" typeface="Iskoola Pota"/>
        <a:font script="Cher" typeface="Plantagenet Cherokee"/>
        <a:font script="Mlym" typeface="Kartika"/>
        <a:font script="Hans" typeface="黑体"/>
        <a:font script="Mong" typeface="Mongolian Baiti"/>
        <a:font script="Guru" typeface="Raavi"/>
        <a:font script="Thaa" typeface="MV Boli"/>
        <a:font script="Hang" typeface="맑은 고딕"/>
        <a:font script="Viet" typeface="Times New Roman"/>
        <a:font script="Cans" typeface="Euphemia"/>
        <a:font script="Beng" typeface="Vrinda"/>
        <a:font script="Deva" typeface="Mangal"/>
        <a:font script="Taml" typeface="Latha"/>
        <a:font script="Geor" typeface="Sylfaen"/>
        <a:font script="Knda" typeface="Tunga"/>
      </a:majorFont>
      <a:minorFont>
        <a:latin typeface="Cambria" panose="02040503050406030204"/>
        <a:ea typeface=""/>
        <a:cs typeface=""/>
        <a:font script="Uigh" typeface="Microsoft Uighur"/>
        <a:font script="Jpan" typeface="HG明朝B"/>
        <a:font script="Tibt" typeface="Microsoft Himalaya"/>
        <a:font script="Ethi" typeface="Nyala"/>
        <a:font script="Laoo" typeface="DokChampa"/>
        <a:font script="Yiii" typeface="Microsoft Yi Baiti"/>
        <a:font script="Arab" typeface="Times New Roman"/>
        <a:font script="Khmr" typeface="MoolBoran"/>
        <a:font script="Syrc" typeface="Estrangelo Edessa"/>
        <a:font script="Gujr" typeface="Shruti"/>
        <a:font script="Orya" typeface="Kalinga"/>
        <a:font script="Hant" typeface="新細明體"/>
        <a:font script="Telu" typeface="Gautami"/>
        <a:font script="Hebr" typeface="Times New Roman"/>
        <a:font script="Thai" typeface="Angsana New"/>
        <a:font script="Sinh" typeface="Iskoola Pota"/>
        <a:font script="Cher" typeface="Plantagenet Cherokee"/>
        <a:font script="Mlym" typeface="Kartika"/>
        <a:font script="Hans" typeface="黑体"/>
        <a:font script="Mong" typeface="Mongolian Baiti"/>
        <a:font script="Guru" typeface="Raavi"/>
        <a:font script="Thaa" typeface="MV Boli"/>
        <a:font script="Hang" typeface="맑은 고딕"/>
        <a:font script="Viet" typeface="Times New Roman"/>
        <a:font script="Cans" typeface="Euphemia"/>
        <a:font script="Beng" typeface="Vrinda"/>
        <a:font script="Deva" typeface="Mangal"/>
        <a:font script="Taml" typeface="Latha"/>
        <a:font script="Geor" typeface="Sylfaen"/>
        <a:font script="Knda" typeface="Tung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  <a:tileRect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 prst="circ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F23041F193214B8E57F0E285C1A82C" ma:contentTypeVersion="15" ma:contentTypeDescription="Create a new document." ma:contentTypeScope="" ma:versionID="cf3ebee454f8221a9c629dca5cfa0020">
  <xsd:schema xmlns:xsd="http://www.w3.org/2001/XMLSchema" xmlns:xs="http://www.w3.org/2001/XMLSchema" xmlns:p="http://schemas.microsoft.com/office/2006/metadata/properties" xmlns:ns3="f0e9e1ab-6588-40ca-8aec-421ae5e03741" xmlns:ns4="1b879db0-c332-4749-8662-4ec22ed2fa72" targetNamespace="http://schemas.microsoft.com/office/2006/metadata/properties" ma:root="true" ma:fieldsID="d0b1b7a147e5670e199648fc6c7b9374" ns3:_="" ns4:_="">
    <xsd:import namespace="f0e9e1ab-6588-40ca-8aec-421ae5e03741"/>
    <xsd:import namespace="1b879db0-c332-4749-8662-4ec22ed2fa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9e1ab-6588-40ca-8aec-421ae5e037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879db0-c332-4749-8662-4ec22ed2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e9e1ab-6588-40ca-8aec-421ae5e0374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D3A138-5ACD-47B5-BD62-AB387AD451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e9e1ab-6588-40ca-8aec-421ae5e03741"/>
    <ds:schemaRef ds:uri="1b879db0-c332-4749-8662-4ec22ed2fa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45DB43-CE85-49D2-A992-FA955C0F5359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documentManagement/types"/>
    <ds:schemaRef ds:uri="http://schemas.microsoft.com/office/infopath/2007/PartnerControls"/>
    <ds:schemaRef ds:uri="1b879db0-c332-4749-8662-4ec22ed2fa72"/>
    <ds:schemaRef ds:uri="f0e9e1ab-6588-40ca-8aec-421ae5e0374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E9700B6-E377-42AF-AE50-E1D4C832DF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Application>Microsoft Office PowerPoint</Application>
  <PresentationFormat>On-screen Show (16:9)</PresentationFormat>
  <Slides>3</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Giang Nguyen</dc:creator>
  <cp:lastModifiedBy>Võ Minh Khôi</cp:lastModifiedBy>
  <cp:revision>21</cp:revision>
  <dcterms:modified xsi:type="dcterms:W3CDTF">2025-12-05T09:10:56.5865035Z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xns:property xmlns:xns="http://schemas.openxmlformats.org/officeDocument/2006/custom-properties" fmtid="{D5CDD505-2E9C-101B-9397-08002B2CF9AE}" pid="2" name="ContentTypeId">
    <vt:lpwstr>0x010100BCF23041F193214B8E57F0E285C1A82C</vt:lpwstr>
  </xns:property>
</Properties>
</file>