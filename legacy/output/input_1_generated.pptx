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8"/>
  </p:notesMasterIdLst>
  <p:sldIdLst>
    <p:sldId id="257" r:id="rId5"/>
    <p:sldId id="258" r:id="rId6"/>
    <p:sldId id="259" r:id="rId7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E-commerce GMV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13.0</c:v>
                </c:pt>
                <c:pt idx="1">
                  <c:v>15.6</c:v>
                </c:pt>
                <c:pt idx="2">
                  <c:v>18.7</c:v>
                </c:pt>
                <c:pt idx="3">
                  <c:v>22.4</c:v>
                </c:pt>
                <c:pt idx="4">
                  <c:v>26.9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41"/>
        <c:axId val="820053456"/>
        <c:axId val="820055168"/>
      </c:barChart>
      <c:catAx>
        <c:axId val="82005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1"/>
        <c:majorTickMark val="none"/>
        <c:minorTickMark val="none"/>
        <c:tickLblPos val="nextTo"/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Generate a flan recipe for the 2</a:t>
            </a:r>
            <a:r>
              <a:rPr lang="en-US" baseline="30000"/>
              <a:t>nd</a:t>
            </a:r>
            <a:r>
              <a:rPr lang="en-US"/>
              <a:t> column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Keep this content: :”</a:t>
            </a:r>
            <a:r>
              <a:rPr lang="en-US" sz="1100" b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 Ecommerce is still on the rise”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d5f73c21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d5f73c21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6.jpe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 descr="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M.O.I Cosmetics: Strategic Milestones and Growth Trajectory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 descr="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A local champion leveraging celebrity moat, asset-light model, and hyper-localization to challenge 90% foreign market dominance.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>
            <a:avLst/>
          </a:prstGeom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>
            <a:avLst/>
          </a:prstGeom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>
            <a:avLst/>
          </a:prstGeom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>
            <a:avLst/>
          </a:prstGeom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>
            <a:avLst/>
          </a:prstGeom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>
            <a:avLst/>
          </a:prstGeom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>
            <a:avLst/>
          </a:prstGeom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>
            <a:avLst/>
          </a:prstGeom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 descr="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Initial Vision &amp; Founding (2017)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 descr="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Founded in 2015 with the mission of “sharing happyness” as a digital and creative partner
Emphasized a deep understanding of Vietnamese culture with the embedded digital frontier</a:t>
            </a: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Founded 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in 2015 with the mission of “sharing </a:t>
            </a:r>
            <a:r>
              <a:rPr lang="en-GB" sz="900" dirty="0" err="1">
                <a:latin typeface="Manrope"/>
                <a:ea typeface="Manrope"/>
                <a:cs typeface="Manrope"/>
                <a:sym typeface="Manrope"/>
              </a:rPr>
              <a:t>happyness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” as a digital and creative partner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Emphasized a deep understanding of Vietnamese culture with the embedded digital frontier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 descr="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Rapid Scale &amp; Financial Proof (2018-2019)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 descr="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Achieved profitability in FY 2019, demonstrating efficient execution and healthy unit economics
Secured $450K Series A funding in 2019 from strategic investor CMG.ASIA
Maintained an average annual growth rate of 150% (excluding 2021)</a:t>
            </a:r>
            <a:r>
              <a:rPr lang="en-GB" sz="900" baseline="30000">
                <a:latin typeface="Manrope"/>
                <a:ea typeface="Manrope"/>
                <a:cs typeface="Manrope"/>
                <a:sym typeface="Manrope"/>
              </a:rPr>
              <a:t>nd</a:t>
            </a: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 column</a:t>
            </a: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Developed 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the proprietary XPhin Model, a strategic and creative planning framework inspired by the Vietnamese phin coffee filter, symbolizing a meticulous and culturally grounded approach to campaign development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 descr="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latin typeface="Manrope"/>
                <a:ea typeface="Manrope"/>
                <a:cs typeface="Manrope"/>
                <a:sym typeface="Manrope"/>
              </a:rPr>
              <a:t>Market Penetration &amp; Moat Development (2020-2022)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 descr="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Became the only Vietnamese brand consistently ranked in the Top 10 makeup market share
Grew market share from 0.9% (2018) to 3.2% (2022) in color cosmetics
Leveraged an asset-light model, outsourcing manufacturing to certified Korean factories (e.g., Cosmax)
Customized core products (e.g., Baby Skin Cushion) for Vietnamese skin and climate (e.g., SPF 50+)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Collaborated with 100+ clients and 500+ projects across various industries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 descr="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latin typeface="Manrope"/>
                <a:ea typeface="Manrope"/>
                <a:cs typeface="Manrope"/>
                <a:sym typeface="Manrope"/>
              </a:rPr>
              <a:t>Strategic Expansion &amp; Omni-Channel Reach (2023-Present)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 descr="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Expansion focuses on high-margin adjacencies and leveraging a robust distribution network: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805" y="3230940"/>
            <a:ext cx="1073524" cy="60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7575" y="2128229"/>
            <a:ext cx="364450" cy="3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7017575" y="3241967"/>
            <a:ext cx="730800" cy="364500"/>
          </a:xfrm>
          <a:prstGeom prst="rect">
            <a:avLst/>
          </a:prstGeom>
          <a:solidFill>
            <a:srgbClr val="DBC0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7575" y="2693441"/>
            <a:ext cx="364451" cy="36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9500" y="3336666"/>
            <a:ext cx="666926" cy="15500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 descr=""/>
          <p:cNvSpPr/>
          <p:nvPr/>
        </p:nvSpPr>
        <p:spPr>
          <a:xfrm>
            <a:off x="7343339" y="2127242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Distribution Network: Established 1,000+ dedicated agents nationwide for deep market penetration.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 descr=""/>
          <p:cNvSpPr/>
          <p:nvPr/>
        </p:nvSpPr>
        <p:spPr>
          <a:xfrm>
            <a:off x="7343339" y="2678067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Retail Presence: Strategic placement in major modern retail chains (Guardian, Hasaki, BeautyBox).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 descr=""/>
          <p:cNvSpPr/>
          <p:nvPr/>
        </p:nvSpPr>
        <p:spPr>
          <a:xfrm>
            <a:off x="7705290" y="3228892"/>
            <a:ext cx="10533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Product Diversification: Launched DA by M.O.I skincare sub-brand, targeting the largest market segment (43% share).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 descr="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Digitalization Reshapes Vietnam's Cosmetics Market Landscape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 descr="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High digital penetration and social commerce are accelerating the shift from traditional retail channels and fueling consumer spending.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 descr=""/>
          <p:cNvSpPr/>
          <p:nvPr/>
        </p:nvSpPr>
        <p:spPr>
          <a:xfrm>
            <a:off x="311700" y="1044807"/>
            <a:ext cx="4160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Ecommerce is still on the rise</a:t>
            </a:r>
            <a:r>
              <a:rPr lang="en-GB" sz="11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is still on </a:t>
            </a:r>
            <a:r>
              <a:rPr lang="en-GB" sz="1100" b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the rise”</a:t>
            </a:r>
            <a:endParaRPr sz="11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>
            <a:cxnSpLocks/>
          </p:cNvCxnSpPr>
          <p:nvPr/>
        </p:nvCxnSpPr>
        <p:spPr>
          <a:xfrm>
            <a:off x="311700" y="1387944"/>
            <a:ext cx="8521150" cy="0"/>
          </a:xfrm>
          <a:prstGeom prst="straightConnector1">
            <a:avLst/>
          </a:prstGeom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 descr="">
            <a:extLst>
              <a:ext uri="{FF2B5EF4-FFF2-40B4-BE49-F238E27FC236}">
                <a16:creationId xmlns:a16="http://schemas.microsoft.com/office/drawing/2014/main" id="{D245827F-10B9-5075-451F-B8DED91A4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 descr="">
            <a:extLst>
              <a:ext uri="{FF2B5EF4-FFF2-40B4-BE49-F238E27FC236}">
                <a16:creationId xmlns:a16="http://schemas.microsoft.com/office/drawing/2014/main" id="{62D8C9C6-FB03-D940-2B18-7D56A56ADEFE}"/>
              </a:ext>
            </a:extLst>
          </p:cNvPr>
          <p:cNvSpPr/>
          <p:nvPr/>
        </p:nvSpPr>
        <p:spPr>
          <a:xfrm>
            <a:off x="311700" y="1436607"/>
            <a:ext cx="3225000" cy="15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Vietnam’s ecommerce industry, US$bn</a:t>
            </a:r>
            <a:r>
              <a:rPr lang="en-GB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ecommerce industry, </a:t>
            </a:r>
            <a:r>
              <a:rPr lang="en-GB" sz="700" dirty="0" err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US$bn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 descr="">
            <a:extLst>
              <a:ext uri="{FF2B5EF4-FFF2-40B4-BE49-F238E27FC236}">
                <a16:creationId xmlns:a16="http://schemas.microsoft.com/office/drawing/2014/main" id="{0BB0DD2E-3D46-1319-85E9-721A8BD6754F}"/>
              </a:ext>
            </a:extLst>
          </p:cNvPr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Structural Drivers Fueling Digital Adoption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 descr="">
            <a:extLst>
              <a:ext uri="{FF2B5EF4-FFF2-40B4-BE49-F238E27FC236}">
                <a16:creationId xmlns:a16="http://schemas.microsoft.com/office/drawing/2014/main" id="{D7575F91-11CC-1144-7A08-EB8DC57327A9}"/>
              </a:ext>
            </a:extLst>
          </p:cNvPr>
          <p:cNvSpPr/>
          <p:nvPr/>
        </p:nvSpPr>
        <p:spPr>
          <a:xfrm>
            <a:off x="348882" y="3859393"/>
            <a:ext cx="8483418" cy="836745"/>
          </a:xfrm>
          <a:prstGeom prst="rect">
            <a:avLst/>
          </a:prstGeom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/>
          <a:p>
            <a:r>
              <a:rPr lang="en-US" sz="900">
                <a:solidFill>
                  <a:schemeClr val="bg1"/>
                </a:solidFill>
                <a:latin typeface="Manrope" pitchFamily="2" charset="0"/>
              </a:rPr>
              <a:t>Key Drivers</a:t>
            </a:r>
            <a:endParaRPr lang="en-US" sz="9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70E3F2-C496-220D-182C-231AADB59465}"/>
              </a:ext>
            </a:extLst>
          </p:cNvPr>
          <p:cNvSpPr/>
          <p:nvPr/>
        </p:nvSpPr>
        <p:spPr>
          <a:xfrm>
            <a:off x="348880" y="3859393"/>
            <a:ext cx="754999" cy="836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28" name="Picture 4" descr="">
            <a:extLst>
              <a:ext uri="{FF2B5EF4-FFF2-40B4-BE49-F238E27FC236}">
                <a16:creationId xmlns:a16="http://schemas.microsoft.com/office/drawing/2014/main" id="{A33C07C0-1F9B-112B-59D8-2C1160A69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72" b="38527"/>
          <a:stretch>
            <a:fillRect/>
          </a:stretch>
        </p:blipFill>
        <p:spPr bwMode="auto">
          <a:xfrm>
            <a:off x="374691" y="4205029"/>
            <a:ext cx="703376" cy="16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 descr="">
            <a:extLst>
              <a:ext uri="{FF2B5EF4-FFF2-40B4-BE49-F238E27FC236}">
                <a16:creationId xmlns:a16="http://schemas.microsoft.com/office/drawing/2014/main" id="{09C39C24-0E55-9D1E-4EB9-81BD06D97723}"/>
              </a:ext>
            </a:extLst>
          </p:cNvPr>
          <p:cNvSpPr/>
          <p:nvPr/>
        </p:nvSpPr>
        <p:spPr>
          <a:xfrm>
            <a:off x="5867807" y="1799915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Expanding Middle Class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 descr="">
            <a:extLst>
              <a:ext uri="{FF2B5EF4-FFF2-40B4-BE49-F238E27FC236}">
                <a16:creationId xmlns:a16="http://schemas.microsoft.com/office/drawing/2014/main" id="{84DDC990-4CE7-8693-695F-6FF80C5FE3C2}"/>
              </a:ext>
            </a:extLst>
          </p:cNvPr>
          <p:cNvSpPr/>
          <p:nvPr/>
        </p:nvSpPr>
        <p:spPr>
          <a:xfrm>
            <a:off x="5867808" y="2321658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High Mobile &amp; Social Penetration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 descr="">
            <a:extLst>
              <a:ext uri="{FF2B5EF4-FFF2-40B4-BE49-F238E27FC236}">
                <a16:creationId xmlns:a16="http://schemas.microsoft.com/office/drawing/2014/main" id="{C5A183CE-4522-84F5-0E8B-C37245059318}"/>
              </a:ext>
            </a:extLst>
          </p:cNvPr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Premiumization and Functional Demand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">
            <a:extLst>
              <a:ext uri="{FF2B5EF4-FFF2-40B4-BE49-F238E27FC236}">
                <a16:creationId xmlns:a16="http://schemas.microsoft.com/office/drawing/2014/main" id="{ED93ACED-556B-A438-E382-C02CE64E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943" y="1970764"/>
            <a:ext cx="297586" cy="29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">
            <a:extLst>
              <a:ext uri="{FF2B5EF4-FFF2-40B4-BE49-F238E27FC236}">
                <a16:creationId xmlns:a16="http://schemas.microsoft.com/office/drawing/2014/main" id="{1FA658E1-A5D4-4B3C-A413-12F929515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250" y="2532996"/>
            <a:ext cx="303283" cy="30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">
            <a:extLst>
              <a:ext uri="{FF2B5EF4-FFF2-40B4-BE49-F238E27FC236}">
                <a16:creationId xmlns:a16="http://schemas.microsoft.com/office/drawing/2014/main" id="{A955460E-EDEA-B466-B4A1-BACF92D5F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171" y="3091987"/>
            <a:ext cx="341276" cy="34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 descr="">
            <a:extLst>
              <a:ext uri="{FF2B5EF4-FFF2-40B4-BE49-F238E27FC236}">
                <a16:creationId xmlns:a16="http://schemas.microsoft.com/office/drawing/2014/main" id="{511A2F32-6897-D3A4-E7CE-8B8279FA0B53}"/>
              </a:ext>
            </a:extLst>
          </p:cNvPr>
          <p:cNvSpPr/>
          <p:nvPr/>
        </p:nvSpPr>
        <p:spPr>
          <a:xfrm>
            <a:off x="5867807" y="2042566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Middle class projected to reach 26% of the population by 2026_x000D_
Per capita income forecast to hit $7,500 by 2030, driving discretionary spending_x000D_
Consumers spend $19–$21 monthly on makeup/skincare, fueling the premium segment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 descr="">
            <a:extLst>
              <a:ext uri="{FF2B5EF4-FFF2-40B4-BE49-F238E27FC236}">
                <a16:creationId xmlns:a16="http://schemas.microsoft.com/office/drawing/2014/main" id="{664D05F5-327D-7F72-0FCD-5A1E85017BEB}"/>
              </a:ext>
            </a:extLst>
          </p:cNvPr>
          <p:cNvSpPr/>
          <p:nvPr/>
        </p:nvSpPr>
        <p:spPr>
          <a:xfrm>
            <a:off x="5867808" y="2556726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E-commerce share of beauty sales expected to reach 24% by 2027_x000D_
Over 75% smartphone penetration enables rapid digital adoption_x000D_
Social commerce platforms (TikTok Shop, Shopee) drive high-volume sales and consumer engagement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 descr="">
            <a:extLst>
              <a:ext uri="{FF2B5EF4-FFF2-40B4-BE49-F238E27FC236}">
                <a16:creationId xmlns:a16="http://schemas.microsoft.com/office/drawing/2014/main" id="{D0B1EB4D-A13C-6BA3-9891-7C2238CFD2DE}"/>
              </a:ext>
            </a:extLst>
          </p:cNvPr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Skincare dominates the product mix (43% share) with 11.8% CAGR projected through 2032_x000D_
Demand is high for functional products like anti-aging and UV protection_x000D_
Local natural/vegan segment is a high-growth niche, expanding at 30% CAGR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 descr="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Investment Rationale: Accelerating Growth and Premium Valuation Potential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16" descr="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M.O.I offers exceptional growth (150% YoY average), proven profitability, and a path to commanding premium multiples through niche consolidation and digital mastery.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">
            <a:extLst>
              <a:ext uri="{FF2B5EF4-FFF2-40B4-BE49-F238E27FC236}">
                <a16:creationId xmlns:a16="http://schemas.microsoft.com/office/drawing/2014/main" id="{2FF07E6F-46FC-36A7-BFA4-50C89ECA1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558" y="1125500"/>
            <a:ext cx="2362883" cy="4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8A2E15-6794-E92F-6EF3-85A47E80A51F}"/>
              </a:ext>
            </a:extLst>
          </p:cNvPr>
          <p:cNvSpPr/>
          <p:nvPr/>
        </p:nvSpPr>
        <p:spPr>
          <a:xfrm>
            <a:off x="323850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BEB25-0677-7B5A-384F-B1CAA30190B0}"/>
              </a:ext>
            </a:extLst>
          </p:cNvPr>
          <p:cNvSpPr/>
          <p:nvPr/>
        </p:nvSpPr>
        <p:spPr>
          <a:xfrm>
            <a:off x="2492279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EA439-CD7B-51D6-89EA-E1E2A0BF3E45}"/>
              </a:ext>
            </a:extLst>
          </p:cNvPr>
          <p:cNvSpPr/>
          <p:nvPr/>
        </p:nvSpPr>
        <p:spPr>
          <a:xfrm>
            <a:off x="4660708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3E3AD-9659-7C70-3056-E73B92A1F4DE}"/>
              </a:ext>
            </a:extLst>
          </p:cNvPr>
          <p:cNvSpPr/>
          <p:nvPr/>
        </p:nvSpPr>
        <p:spPr>
          <a:xfrm>
            <a:off x="6829136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Google Shape;188;p19">
            <a:extLst>
              <a:ext uri="{FF2B5EF4-FFF2-40B4-BE49-F238E27FC236}">
                <a16:creationId xmlns:a16="http://schemas.microsoft.com/office/drawing/2014/main" id="{DFD6E7D3-5631-529D-FAFC-4489FB2A7525}"/>
              </a:ext>
            </a:extLst>
          </p:cNvPr>
          <p:cNvCxnSpPr>
            <a:cxnSpLocks/>
          </p:cNvCxnSpPr>
          <p:nvPr/>
        </p:nvCxnSpPr>
        <p:spPr>
          <a:xfrm>
            <a:off x="3238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88;p19">
            <a:extLst>
              <a:ext uri="{FF2B5EF4-FFF2-40B4-BE49-F238E27FC236}">
                <a16:creationId xmlns:a16="http://schemas.microsoft.com/office/drawing/2014/main" id="{1A70FF56-79EA-05D2-5137-7796CA2A3688}"/>
              </a:ext>
            </a:extLst>
          </p:cNvPr>
          <p:cNvCxnSpPr>
            <a:cxnSpLocks/>
          </p:cNvCxnSpPr>
          <p:nvPr/>
        </p:nvCxnSpPr>
        <p:spPr>
          <a:xfrm>
            <a:off x="24877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88;p19">
            <a:extLst>
              <a:ext uri="{FF2B5EF4-FFF2-40B4-BE49-F238E27FC236}">
                <a16:creationId xmlns:a16="http://schemas.microsoft.com/office/drawing/2014/main" id="{0B5835AE-11F1-22E8-6D6A-E7DB52AB4094}"/>
              </a:ext>
            </a:extLst>
          </p:cNvPr>
          <p:cNvCxnSpPr>
            <a:cxnSpLocks/>
          </p:cNvCxnSpPr>
          <p:nvPr/>
        </p:nvCxnSpPr>
        <p:spPr>
          <a:xfrm>
            <a:off x="4660708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DCC08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88;p19">
            <a:extLst>
              <a:ext uri="{FF2B5EF4-FFF2-40B4-BE49-F238E27FC236}">
                <a16:creationId xmlns:a16="http://schemas.microsoft.com/office/drawing/2014/main" id="{357C9C08-53ED-6443-B69B-1086B79F5BAE}"/>
              </a:ext>
            </a:extLst>
          </p:cNvPr>
          <p:cNvCxnSpPr>
            <a:cxnSpLocks/>
          </p:cNvCxnSpPr>
          <p:nvPr/>
        </p:nvCxnSpPr>
        <p:spPr>
          <a:xfrm>
            <a:off x="6821286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1EA89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34;p16" descr="">
            <a:extLst>
              <a:ext uri="{FF2B5EF4-FFF2-40B4-BE49-F238E27FC236}">
                <a16:creationId xmlns:a16="http://schemas.microsoft.com/office/drawing/2014/main" id="{FD6BEF3A-2085-F196-E3B8-1CA2C7C995C6}"/>
              </a:ext>
            </a:extLst>
          </p:cNvPr>
          <p:cNvSpPr txBox="1">
            <a:spLocks/>
          </p:cNvSpPr>
          <p:nvPr/>
        </p:nvSpPr>
        <p:spPr>
          <a:xfrm>
            <a:off x="323850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Differentiated Product &amp; Operating Model</a:t>
            </a:r>
          </a:p>
        </p:txBody>
      </p:sp>
      <p:sp>
        <p:nvSpPr>
          <p:cNvPr id="17" name="Google Shape;134;p16" descr="">
            <a:extLst>
              <a:ext uri="{FF2B5EF4-FFF2-40B4-BE49-F238E27FC236}">
                <a16:creationId xmlns:a16="http://schemas.microsoft.com/office/drawing/2014/main" id="{B332ACC8-F226-D0B3-4B03-6395A065AFDD}"/>
              </a:ext>
            </a:extLst>
          </p:cNvPr>
          <p:cNvSpPr txBox="1">
            <a:spLocks/>
          </p:cNvSpPr>
          <p:nvPr/>
        </p:nvSpPr>
        <p:spPr>
          <a:xfrm>
            <a:off x="2484428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436E99"/>
                </a:solidFill>
                <a:latin typeface="Manrope"/>
                <a:ea typeface="Manrope"/>
                <a:cs typeface="Manrope"/>
                <a:sym typeface="Manrope"/>
              </a:rPr>
              <a:t>Defensible Market Moat &amp; Brand Equity</a:t>
            </a:r>
          </a:p>
        </p:txBody>
      </p:sp>
      <p:sp>
        <p:nvSpPr>
          <p:cNvPr id="18" name="Google Shape;134;p16" descr="">
            <a:extLst>
              <a:ext uri="{FF2B5EF4-FFF2-40B4-BE49-F238E27FC236}">
                <a16:creationId xmlns:a16="http://schemas.microsoft.com/office/drawing/2014/main" id="{40DFE097-C3FA-A028-AAF1-9F4F9EEA03A6}"/>
              </a:ext>
            </a:extLst>
          </p:cNvPr>
          <p:cNvSpPr txBox="1">
            <a:spLocks/>
          </p:cNvSpPr>
          <p:nvPr/>
        </p:nvSpPr>
        <p:spPr>
          <a:xfrm>
            <a:off x="4660707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DCC086"/>
                </a:solidFill>
                <a:latin typeface="Manrope"/>
                <a:ea typeface="Manrope"/>
                <a:cs typeface="Manrope"/>
                <a:sym typeface="Manrope"/>
              </a:rPr>
              <a:t>Proven Financial Performance</a:t>
            </a:r>
          </a:p>
        </p:txBody>
      </p:sp>
      <p:sp>
        <p:nvSpPr>
          <p:cNvPr id="19" name="Google Shape;134;p16" descr="">
            <a:extLst>
              <a:ext uri="{FF2B5EF4-FFF2-40B4-BE49-F238E27FC236}">
                <a16:creationId xmlns:a16="http://schemas.microsoft.com/office/drawing/2014/main" id="{EE3426EB-4896-B4C4-DE7C-8008207D5E1A}"/>
              </a:ext>
            </a:extLst>
          </p:cNvPr>
          <p:cNvSpPr txBox="1">
            <a:spLocks/>
          </p:cNvSpPr>
          <p:nvPr/>
        </p:nvSpPr>
        <p:spPr>
          <a:xfrm>
            <a:off x="6821286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1EA89B"/>
                </a:solidFill>
                <a:latin typeface="Manrope"/>
                <a:ea typeface="Manrope"/>
                <a:cs typeface="Manrope"/>
                <a:sym typeface="Manrope"/>
              </a:rPr>
              <a:t>Clear Strategic Roadmap &amp; M&amp;A Value</a:t>
            </a:r>
          </a:p>
        </p:txBody>
      </p:sp>
      <p:sp>
        <p:nvSpPr>
          <p:cNvPr id="33" name="Rectangle 32" descr="">
            <a:extLst>
              <a:ext uri="{FF2B5EF4-FFF2-40B4-BE49-F238E27FC236}">
                <a16:creationId xmlns:a16="http://schemas.microsoft.com/office/drawing/2014/main" id="{7631D84D-AD5E-F1E6-E141-85737632F54E}"/>
              </a:ext>
            </a:extLst>
          </p:cNvPr>
          <p:cNvSpPr/>
          <p:nvPr/>
        </p:nvSpPr>
        <p:spPr>
          <a:xfrm>
            <a:off x="324000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Combines international quality (Korean manufacturing) with hyper-localization for Vietnamese users
Only Vietnamese enterprise consistently ranked in the Top 10 makeup market share (3.2% in 2022)
Asset-light model ensures rapid scalability without heavy CapEx, optimizing capital deployment
Core products (e.g., Baby Skin Cushion) are tailored for local skin and climate (e.g., SPF 50+ PA+++)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Developed the XPhin Model, a creative framework inspired by Vietnam’s phin coffee filter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Ideal for investors seeking culturally-rooted, scalable platforms in SEA</a:t>
            </a:r>
          </a:p>
        </p:txBody>
      </p:sp>
      <p:sp>
        <p:nvSpPr>
          <p:cNvPr id="34" name="Rectangle 33" descr="">
            <a:extLst>
              <a:ext uri="{FF2B5EF4-FFF2-40B4-BE49-F238E27FC236}">
                <a16:creationId xmlns:a16="http://schemas.microsoft.com/office/drawing/2014/main" id="{E451D967-7D47-0DD6-AE8A-8BC01F291D2B}"/>
              </a:ext>
            </a:extLst>
          </p:cNvPr>
          <p:cNvSpPr/>
          <p:nvPr/>
        </p:nvSpPr>
        <p:spPr>
          <a:xfrm>
            <a:off x="2484426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Strong brand equity amplified by co-founder Hồ Ngọc Hà (celebrity Creative Director), building consumer trust
Extensive, nationwide distribution network of ~1,000 dedicated agents ensures deep market penetration
Omnichannel presence secured through placement in major modern retail (Guardian, Hasaki) and all major e-commerce platforms
Directly challenges the 90% market dominance held by foreign multinationals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Proven ability to adapt brand narratives to various sectors with high standards of execution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Diversified client base provides revenue stability and cross-sell potential, lowering customer concentration risk for investors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900" dirty="0">
              <a:solidFill>
                <a:schemeClr val="tx1"/>
              </a:solidFill>
              <a:latin typeface="Manrope" pitchFamily="2" charset="0"/>
              <a:cs typeface="Mangal" panose="02040503050203030202" pitchFamily="18" charset="0"/>
            </a:endParaRPr>
          </a:p>
        </p:txBody>
      </p:sp>
      <p:sp>
        <p:nvSpPr>
          <p:cNvPr id="35" name="Rectangle 34" descr="">
            <a:extLst>
              <a:ext uri="{FF2B5EF4-FFF2-40B4-BE49-F238E27FC236}">
                <a16:creationId xmlns:a16="http://schemas.microsoft.com/office/drawing/2014/main" id="{28007F49-1CE5-76E2-649C-38B5184E0A97}"/>
              </a:ext>
            </a:extLst>
          </p:cNvPr>
          <p:cNvSpPr/>
          <p:nvPr/>
        </p:nvSpPr>
        <p:spPr>
          <a:xfrm>
            <a:off x="4668559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bg2"/>
                </a:solidFill>
                <a:latin typeface="Manrope" pitchFamily="2" charset="0"/>
              </a:rPr>
              <a:t>Achieved profitability early (FY 2019), demonstrating efficient execution and healthy unit economics
Exceptional growth trajectory with an average annual growth rate of 150% (excluding 2021)
Current scale (implied US$12M contextual revenue) positions M.O.I to command a premium over global beauty multiples (median 2.6x EV/Revenue)
Management confidence signaled by preparations for a Series B funding round</a:t>
            </a:r>
          </a:p>
        </p:txBody>
      </p:sp>
      <p:sp>
        <p:nvSpPr>
          <p:cNvPr id="36" name="Rectangle 35" descr="">
            <a:extLst>
              <a:ext uri="{FF2B5EF4-FFF2-40B4-BE49-F238E27FC236}">
                <a16:creationId xmlns:a16="http://schemas.microsoft.com/office/drawing/2014/main" id="{984FDA0F-5584-4CC7-C1FB-A2DDEC077DF1}"/>
              </a:ext>
            </a:extLst>
          </p:cNvPr>
          <p:cNvSpPr/>
          <p:nvPr/>
        </p:nvSpPr>
        <p:spPr>
          <a:xfrm>
            <a:off x="6836987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Strategic expansion into high-growth, high-margin adjacencies (Haircare, intensive anti-aging care, vegan lines)
Skincare sub-brand (DA by M.O.I) targets the largest market segment (43% share), increasing customer lifetime value
High strategic M&amp;A value for global acquirers (e.g., Amorepacific, P&amp;G) seeking immediate access to local intelligence
Acquisition bypasses high import tariffs and the complexity of establishing an authentic local brand identity from scratch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Platform model unlocks economies of scale and cross-selling opportunities for strategic players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Ideal platform for both strategic and financial investors to “invest and build” and consolidate similar players in the market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455</Words>
  <Application>Microsoft Office PowerPoint</Application>
  <PresentationFormat>On-screen Show (16:9)</PresentationFormat>
  <Paragraphs>51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Manrope</vt:lpstr>
      <vt:lpstr>Simple Light</vt:lpstr>
      <vt:lpstr>A decade of innovation, growth with digital frontier</vt:lpstr>
      <vt:lpstr>Vietnam’s ecommerce and social commerce boom - a digital gold rush</vt:lpstr>
      <vt:lpstr>Proposed investment highlights to best position Xanh Marketing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18</cp:revision>
  <dcterms:modified xsi:type="dcterms:W3CDTF">2025-12-02T05:22:24Z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0x010100BCF23041F193214B8E57F0E285C1A82C</vt:lpwstr>
  </property>
</Properties>
</file>