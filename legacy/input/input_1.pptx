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7" r:id="rId5"/>
    <p:sldId id="258" r:id="rId6"/>
    <p:sldId id="259" r:id="rId7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Sheet1!$C$4:$G$4</c:f>
              <c:numCache>
                <c:formatCode>_(* #,##0.0_);_(* \(#,##0.0\);_(* "-"_);_(@_)</c:formatCode>
                <c:ptCount val="5"/>
                <c:pt idx="0">
                  <c:v>16.100000000000001</c:v>
                </c:pt>
                <c:pt idx="1">
                  <c:v>17.66009</c:v>
                </c:pt>
                <c:pt idx="2">
                  <c:v>19.371352721000001</c:v>
                </c:pt>
                <c:pt idx="3">
                  <c:v>21.248436799664901</c:v>
                </c:pt>
                <c:pt idx="4">
                  <c:v>23.307410325552429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41"/>
        <c:axId val="820053456"/>
        <c:axId val="820055168"/>
      </c:barChart>
      <c:catAx>
        <c:axId val="82005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1"/>
        <c:majorTickMark val="none"/>
        <c:minorTickMark val="none"/>
        <c:tickLblPos val="nextTo"/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d5f73c21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d5f73c21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decade of innovation, growth with digital frontier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The comprehensive suite of marketing and branding solutions with cultural depth and digital leadership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>
            <a:avLst/>
          </a:prstGeom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>
            <a:avLst/>
          </a:prstGeom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>
            <a:avLst/>
          </a:prstGeom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>
            <a:avLst/>
          </a:prstGeom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>
            <a:avLst/>
          </a:prstGeom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>
            <a:avLst/>
          </a:prstGeom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>
            <a:avLst/>
          </a:prstGeom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>
            <a:avLst/>
          </a:prstGeom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Founding vision &amp; inception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&lt;i&gt; use the content of this component, don’t change, don’t duplicate the content</a:t>
            </a: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Founded 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in 2015 with the mission of “sharing </a:t>
            </a:r>
            <a:r>
              <a:rPr lang="en-GB" sz="900" dirty="0" err="1">
                <a:latin typeface="Manrope"/>
                <a:ea typeface="Manrope"/>
                <a:cs typeface="Manrope"/>
                <a:sym typeface="Manrope"/>
              </a:rPr>
              <a:t>happyness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” as a digital and creative partner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Emphasized a deep understanding of Vietnamese culture with the embedded digital frontier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Introduction of the XPhin Model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2</a:t>
            </a:r>
            <a:r>
              <a:rPr lang="en-GB" sz="900" baseline="30000">
                <a:latin typeface="Manrope"/>
                <a:ea typeface="Manrope"/>
                <a:cs typeface="Manrope"/>
                <a:sym typeface="Manrope"/>
              </a:rPr>
              <a:t>nd</a:t>
            </a: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 column</a:t>
            </a: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>
                <a:latin typeface="Manrope"/>
                <a:ea typeface="Manrope"/>
                <a:cs typeface="Manrope"/>
                <a:sym typeface="Manrope"/>
              </a:rPr>
              <a:t>Developed </a:t>
            </a: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the proprietary XPhin Model, a strategic and creative planning framework inspired by the Vietnamese phin coffee filter, symbolizing a meticulous and culturally grounded approach to campaign development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Expansion of services &amp; client base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Expanded to a comprehensive service suite: creative solutions, 360 digital performance, social management, influence hacking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Collaborated with 100+ clients and 500+ projects across various industries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latin typeface="Manrope"/>
                <a:ea typeface="Manrope"/>
                <a:cs typeface="Manrope"/>
                <a:sym typeface="Manrope"/>
              </a:rPr>
              <a:t>Launch of Xanh &amp; Partners</a:t>
            </a:r>
            <a:endParaRPr sz="900" b="1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Introduced the end-to-end integrated solutions comprising: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805" y="3230940"/>
            <a:ext cx="1073524" cy="60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575" y="2128229"/>
            <a:ext cx="364450" cy="3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>
            <a:avLst/>
          </a:prstGeom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7575" y="2693441"/>
            <a:ext cx="364451" cy="36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49500" y="3336666"/>
            <a:ext cx="666926" cy="15500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Social-tainment marketing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Ecommerce enablement and solutions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dirty="0">
                <a:latin typeface="Manrope"/>
                <a:ea typeface="Manrope"/>
                <a:cs typeface="Manrope"/>
                <a:sym typeface="Manrope"/>
              </a:rPr>
              <a:t>Creative production house</a:t>
            </a:r>
            <a:endParaRPr sz="700" dirty="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Vietnam’s ecommerce and social commerce boom - a digital gold rush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Riding the next wave of digital commerce: platforms, creators, and social engagement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11700" y="1044807"/>
            <a:ext cx="41601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&lt;i&gt;Keep this “Ecommerce </a:t>
            </a:r>
            <a:r>
              <a:rPr lang="en-GB" sz="11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is still on </a:t>
            </a:r>
            <a:r>
              <a:rPr lang="en-GB" sz="1100" b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the rise”</a:t>
            </a:r>
            <a:endParaRPr sz="11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>
            <a:cxnSpLocks/>
          </p:cNvCxnSpPr>
          <p:nvPr/>
        </p:nvCxnSpPr>
        <p:spPr>
          <a:xfrm>
            <a:off x="311700" y="1387944"/>
            <a:ext cx="8521150" cy="0"/>
          </a:xfrm>
          <a:prstGeom prst="straightConnector1">
            <a:avLst/>
          </a:prstGeom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245827F-10B9-5075-451F-B8DED91A4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>
            <a:extLst>
              <a:ext uri="{FF2B5EF4-FFF2-40B4-BE49-F238E27FC236}">
                <a16:creationId xmlns:a16="http://schemas.microsoft.com/office/drawing/2014/main" id="{62D8C9C6-FB03-D940-2B18-7D56A56ADEFE}"/>
              </a:ext>
            </a:extLst>
          </p:cNvPr>
          <p:cNvSpPr/>
          <p:nvPr/>
        </p:nvSpPr>
        <p:spPr>
          <a:xfrm>
            <a:off x="311700" y="1436607"/>
            <a:ext cx="3225000" cy="1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&lt;i&gt; Vietnam’s </a:t>
            </a:r>
            <a:r>
              <a:rPr lang="en-GB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ecommerce industry, </a:t>
            </a:r>
            <a:r>
              <a:rPr lang="en-GB" sz="700" dirty="0" err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US$bn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>
            <a:extLst>
              <a:ext uri="{FF2B5EF4-FFF2-40B4-BE49-F238E27FC236}">
                <a16:creationId xmlns:a16="http://schemas.microsoft.com/office/drawing/2014/main" id="{0BB0DD2E-3D46-1319-85E9-721A8BD6754F}"/>
              </a:ext>
            </a:extLst>
          </p:cNvPr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Key drivers</a:t>
            </a:r>
            <a:endParaRPr sz="900" b="1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>
            <a:extLst>
              <a:ext uri="{FF2B5EF4-FFF2-40B4-BE49-F238E27FC236}">
                <a16:creationId xmlns:a16="http://schemas.microsoft.com/office/drawing/2014/main" id="{D7575F91-11CC-1144-7A08-EB8DC57327A9}"/>
              </a:ext>
            </a:extLst>
          </p:cNvPr>
          <p:cNvSpPr/>
          <p:nvPr/>
        </p:nvSpPr>
        <p:spPr>
          <a:xfrm>
            <a:off x="348882" y="3859393"/>
            <a:ext cx="8483418" cy="836745"/>
          </a:xfrm>
          <a:prstGeom prst="rect">
            <a:avLst/>
          </a:prstGeom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/>
          <a:p>
            <a:r>
              <a:rPr lang="en-US" sz="900">
                <a:solidFill>
                  <a:schemeClr val="bg1"/>
                </a:solidFill>
                <a:latin typeface="Manrope" pitchFamily="2" charset="0"/>
              </a:rPr>
              <a:t>This component is used for placing the information of the spotlight competitor in the industry</a:t>
            </a:r>
            <a:endParaRPr lang="en-US" sz="9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0E3F2-C496-220D-182C-231AADB59465}"/>
              </a:ext>
            </a:extLst>
          </p:cNvPr>
          <p:cNvSpPr/>
          <p:nvPr/>
        </p:nvSpPr>
        <p:spPr>
          <a:xfrm>
            <a:off x="348880" y="3859393"/>
            <a:ext cx="754999" cy="836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28" name="Picture 4" descr="Onpoint E-commerce">
            <a:extLst>
              <a:ext uri="{FF2B5EF4-FFF2-40B4-BE49-F238E27FC236}">
                <a16:creationId xmlns:a16="http://schemas.microsoft.com/office/drawing/2014/main" id="{A33C07C0-1F9B-112B-59D8-2C1160A69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72" b="38527"/>
          <a:stretch>
            <a:fillRect/>
          </a:stretch>
        </p:blipFill>
        <p:spPr bwMode="auto">
          <a:xfrm>
            <a:off x="374691" y="4205029"/>
            <a:ext cx="703376" cy="16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>
            <a:extLst>
              <a:ext uri="{FF2B5EF4-FFF2-40B4-BE49-F238E27FC236}">
                <a16:creationId xmlns:a16="http://schemas.microsoft.com/office/drawing/2014/main" id="{09C39C24-0E55-9D1E-4EB9-81BD06D97723}"/>
              </a:ext>
            </a:extLst>
          </p:cNvPr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High internet penetration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>
            <a:extLst>
              <a:ext uri="{FF2B5EF4-FFF2-40B4-BE49-F238E27FC236}">
                <a16:creationId xmlns:a16="http://schemas.microsoft.com/office/drawing/2014/main" id="{84DDC990-4CE7-8693-695F-6FF80C5FE3C2}"/>
              </a:ext>
            </a:extLst>
          </p:cNvPr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Young, tech-savvy population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>
            <a:extLst>
              <a:ext uri="{FF2B5EF4-FFF2-40B4-BE49-F238E27FC236}">
                <a16:creationId xmlns:a16="http://schemas.microsoft.com/office/drawing/2014/main" id="{C5A183CE-4522-84F5-0E8B-C37245059318}"/>
              </a:ext>
            </a:extLst>
          </p:cNvPr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Social media integration &amp; shoppertainment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>
            <a:extLst>
              <a:ext uri="{FF2B5EF4-FFF2-40B4-BE49-F238E27FC236}">
                <a16:creationId xmlns:a16="http://schemas.microsoft.com/office/drawing/2014/main" id="{ED93ACED-556B-A438-E382-C02CE64E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943" y="1970764"/>
            <a:ext cx="297586" cy="2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>
            <a:extLst>
              <a:ext uri="{FF2B5EF4-FFF2-40B4-BE49-F238E27FC236}">
                <a16:creationId xmlns:a16="http://schemas.microsoft.com/office/drawing/2014/main" id="{1FA658E1-A5D4-4B3C-A413-12F929515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250" y="2532996"/>
            <a:ext cx="303283" cy="30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>
            <a:extLst>
              <a:ext uri="{FF2B5EF4-FFF2-40B4-BE49-F238E27FC236}">
                <a16:creationId xmlns:a16="http://schemas.microsoft.com/office/drawing/2014/main" id="{A955460E-EDEA-B466-B4A1-BACF92D5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1" y="3091987"/>
            <a:ext cx="341276" cy="34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>
            <a:extLst>
              <a:ext uri="{FF2B5EF4-FFF2-40B4-BE49-F238E27FC236}">
                <a16:creationId xmlns:a16="http://schemas.microsoft.com/office/drawing/2014/main" id="{511A2F32-6897-D3A4-E7CE-8B8279FA0B53}"/>
              </a:ext>
            </a:extLst>
          </p:cNvPr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>
            <a:extLst>
              <a:ext uri="{FF2B5EF4-FFF2-40B4-BE49-F238E27FC236}">
                <a16:creationId xmlns:a16="http://schemas.microsoft.com/office/drawing/2014/main" id="{664D05F5-327D-7F72-0FCD-5A1E85017BEB}"/>
              </a:ext>
            </a:extLst>
          </p:cNvPr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>
            <a:extLst>
              <a:ext uri="{FF2B5EF4-FFF2-40B4-BE49-F238E27FC236}">
                <a16:creationId xmlns:a16="http://schemas.microsoft.com/office/drawing/2014/main" id="{D0B1EB4D-A13C-6BA3-9891-7C2238CFD2DE}"/>
              </a:ext>
            </a:extLst>
          </p:cNvPr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3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Proposed investment highlights to best position Xanh Marketing</a:t>
            </a:r>
            <a:endParaRPr sz="1300" b="1" dirty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1100" i="1" dirty="0">
                <a:latin typeface="Manrope"/>
                <a:ea typeface="Manrope"/>
                <a:cs typeface="Manrope"/>
                <a:sym typeface="Manrope"/>
              </a:rPr>
              <a:t>Thoughtful positioning of Xanh Marketing to help drive an above market valuation</a:t>
            </a:r>
            <a:endParaRPr sz="1100" i="1"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375" y="197625"/>
            <a:ext cx="666925" cy="6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Xanh Marketing | MMA Global">
            <a:extLst>
              <a:ext uri="{FF2B5EF4-FFF2-40B4-BE49-F238E27FC236}">
                <a16:creationId xmlns:a16="http://schemas.microsoft.com/office/drawing/2014/main" id="{2FF07E6F-46FC-36A7-BFA4-50C89ECA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58" y="1125500"/>
            <a:ext cx="2362883" cy="4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A2E15-6794-E92F-6EF3-85A47E80A51F}"/>
              </a:ext>
            </a:extLst>
          </p:cNvPr>
          <p:cNvSpPr/>
          <p:nvPr/>
        </p:nvSpPr>
        <p:spPr>
          <a:xfrm>
            <a:off x="323850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BEB25-0677-7B5A-384F-B1CAA30190B0}"/>
              </a:ext>
            </a:extLst>
          </p:cNvPr>
          <p:cNvSpPr/>
          <p:nvPr/>
        </p:nvSpPr>
        <p:spPr>
          <a:xfrm>
            <a:off x="2492279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EA439-CD7B-51D6-89EA-E1E2A0BF3E45}"/>
              </a:ext>
            </a:extLst>
          </p:cNvPr>
          <p:cNvSpPr/>
          <p:nvPr/>
        </p:nvSpPr>
        <p:spPr>
          <a:xfrm>
            <a:off x="4660708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3E3AD-9659-7C70-3056-E73B92A1F4DE}"/>
              </a:ext>
            </a:extLst>
          </p:cNvPr>
          <p:cNvSpPr/>
          <p:nvPr/>
        </p:nvSpPr>
        <p:spPr>
          <a:xfrm>
            <a:off x="6829136" y="1947037"/>
            <a:ext cx="2003714" cy="2694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Google Shape;188;p19">
            <a:extLst>
              <a:ext uri="{FF2B5EF4-FFF2-40B4-BE49-F238E27FC236}">
                <a16:creationId xmlns:a16="http://schemas.microsoft.com/office/drawing/2014/main" id="{DFD6E7D3-5631-529D-FAFC-4489FB2A7525}"/>
              </a:ext>
            </a:extLst>
          </p:cNvPr>
          <p:cNvCxnSpPr>
            <a:cxnSpLocks/>
          </p:cNvCxnSpPr>
          <p:nvPr/>
        </p:nvCxnSpPr>
        <p:spPr>
          <a:xfrm>
            <a:off x="3238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88;p19">
            <a:extLst>
              <a:ext uri="{FF2B5EF4-FFF2-40B4-BE49-F238E27FC236}">
                <a16:creationId xmlns:a16="http://schemas.microsoft.com/office/drawing/2014/main" id="{1A70FF56-79EA-05D2-5137-7796CA2A3688}"/>
              </a:ext>
            </a:extLst>
          </p:cNvPr>
          <p:cNvCxnSpPr>
            <a:cxnSpLocks/>
          </p:cNvCxnSpPr>
          <p:nvPr/>
        </p:nvCxnSpPr>
        <p:spPr>
          <a:xfrm>
            <a:off x="2487750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88;p19">
            <a:extLst>
              <a:ext uri="{FF2B5EF4-FFF2-40B4-BE49-F238E27FC236}">
                <a16:creationId xmlns:a16="http://schemas.microsoft.com/office/drawing/2014/main" id="{0B5835AE-11F1-22E8-6D6A-E7DB52AB4094}"/>
              </a:ext>
            </a:extLst>
          </p:cNvPr>
          <p:cNvCxnSpPr>
            <a:cxnSpLocks/>
          </p:cNvCxnSpPr>
          <p:nvPr/>
        </p:nvCxnSpPr>
        <p:spPr>
          <a:xfrm>
            <a:off x="4660708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DCC08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88;p19">
            <a:extLst>
              <a:ext uri="{FF2B5EF4-FFF2-40B4-BE49-F238E27FC236}">
                <a16:creationId xmlns:a16="http://schemas.microsoft.com/office/drawing/2014/main" id="{357C9C08-53ED-6443-B69B-1086B79F5BAE}"/>
              </a:ext>
            </a:extLst>
          </p:cNvPr>
          <p:cNvCxnSpPr>
            <a:cxnSpLocks/>
          </p:cNvCxnSpPr>
          <p:nvPr/>
        </p:nvCxnSpPr>
        <p:spPr>
          <a:xfrm>
            <a:off x="6821286" y="1761980"/>
            <a:ext cx="2003714" cy="0"/>
          </a:xfrm>
          <a:prstGeom prst="straightConnector1">
            <a:avLst/>
          </a:prstGeom>
          <a:noFill/>
          <a:ln w="28575" cap="flat" cmpd="sng">
            <a:solidFill>
              <a:srgbClr val="1EA89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34;p16">
            <a:extLst>
              <a:ext uri="{FF2B5EF4-FFF2-40B4-BE49-F238E27FC236}">
                <a16:creationId xmlns:a16="http://schemas.microsoft.com/office/drawing/2014/main" id="{FD6BEF3A-2085-F196-E3B8-1CA2C7C995C6}"/>
              </a:ext>
            </a:extLst>
          </p:cNvPr>
          <p:cNvSpPr txBox="1">
            <a:spLocks/>
          </p:cNvSpPr>
          <p:nvPr/>
        </p:nvSpPr>
        <p:spPr>
          <a:xfrm>
            <a:off x="323850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premier digital-first creative agency with deep cultural insight</a:t>
            </a:r>
          </a:p>
        </p:txBody>
      </p:sp>
      <p:sp>
        <p:nvSpPr>
          <p:cNvPr id="17" name="Google Shape;134;p16">
            <a:extLst>
              <a:ext uri="{FF2B5EF4-FFF2-40B4-BE49-F238E27FC236}">
                <a16:creationId xmlns:a16="http://schemas.microsoft.com/office/drawing/2014/main" id="{B332ACC8-F226-D0B3-4B03-6395A065AFDD}"/>
              </a:ext>
            </a:extLst>
          </p:cNvPr>
          <p:cNvSpPr txBox="1">
            <a:spLocks/>
          </p:cNvSpPr>
          <p:nvPr/>
        </p:nvSpPr>
        <p:spPr>
          <a:xfrm>
            <a:off x="2484428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436E99"/>
                </a:solidFill>
                <a:latin typeface="Manrope"/>
                <a:ea typeface="Manrope"/>
                <a:cs typeface="Manrope"/>
                <a:sym typeface="Manrope"/>
              </a:rPr>
              <a:t>Blue-chip customer base with diverse end markets</a:t>
            </a:r>
          </a:p>
        </p:txBody>
      </p:sp>
      <p:sp>
        <p:nvSpPr>
          <p:cNvPr id="18" name="Google Shape;134;p16">
            <a:extLst>
              <a:ext uri="{FF2B5EF4-FFF2-40B4-BE49-F238E27FC236}">
                <a16:creationId xmlns:a16="http://schemas.microsoft.com/office/drawing/2014/main" id="{40DFE097-C3FA-A028-AAF1-9F4F9EEA03A6}"/>
              </a:ext>
            </a:extLst>
          </p:cNvPr>
          <p:cNvSpPr txBox="1">
            <a:spLocks/>
          </p:cNvSpPr>
          <p:nvPr/>
        </p:nvSpPr>
        <p:spPr>
          <a:xfrm>
            <a:off x="4660707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DCC086"/>
                </a:solidFill>
                <a:latin typeface="Manrope"/>
                <a:ea typeface="Manrope"/>
                <a:cs typeface="Manrope"/>
                <a:sym typeface="Manrope"/>
              </a:rPr>
              <a:t>Compelling financials</a:t>
            </a:r>
          </a:p>
        </p:txBody>
      </p:sp>
      <p:sp>
        <p:nvSpPr>
          <p:cNvPr id="19" name="Google Shape;134;p16">
            <a:extLst>
              <a:ext uri="{FF2B5EF4-FFF2-40B4-BE49-F238E27FC236}">
                <a16:creationId xmlns:a16="http://schemas.microsoft.com/office/drawing/2014/main" id="{EE3426EB-4896-B4C4-DE7C-8008207D5E1A}"/>
              </a:ext>
            </a:extLst>
          </p:cNvPr>
          <p:cNvSpPr txBox="1">
            <a:spLocks/>
          </p:cNvSpPr>
          <p:nvPr/>
        </p:nvSpPr>
        <p:spPr>
          <a:xfrm>
            <a:off x="6821286" y="1761979"/>
            <a:ext cx="2011565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n-GB" sz="900" b="1" dirty="0">
                <a:solidFill>
                  <a:srgbClr val="1EA89B"/>
                </a:solidFill>
                <a:latin typeface="Manrope"/>
                <a:ea typeface="Manrope"/>
                <a:cs typeface="Manrope"/>
                <a:sym typeface="Manrope"/>
              </a:rPr>
              <a:t>From agency to platform to become the end-to-end solution provider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31D84D-AD5E-F1E6-E141-85737632F54E}"/>
              </a:ext>
            </a:extLst>
          </p:cNvPr>
          <p:cNvSpPr/>
          <p:nvPr/>
        </p:nvSpPr>
        <p:spPr>
          <a:xfrm>
            <a:off x="324000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Founded in 2015 with a mission to deliver brand campaigns rooted in Vietnamese culture 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Developed the XPhin Model, a creative framework inspired by Vietnam’s phin coffee filter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for investors seeking culturally-rooted, scalable platforms in SEA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51D967-7D47-0DD6-AE8A-8BC01F291D2B}"/>
              </a:ext>
            </a:extLst>
          </p:cNvPr>
          <p:cNvSpPr/>
          <p:nvPr/>
        </p:nvSpPr>
        <p:spPr>
          <a:xfrm>
            <a:off x="2484426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Track record of over 500 campaigns for 100+ brands across digital and social channels, emphasizing creativity and cultural relevance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Proven ability to adapt brand narratives to various sectors with high standards of execution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Diversified client base provides revenue stability and cross-sell potential, lowering customer concentration risk for investors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900" dirty="0">
              <a:solidFill>
                <a:schemeClr val="tx1"/>
              </a:solidFill>
              <a:latin typeface="Manrope" pitchFamily="2" charset="0"/>
              <a:cs typeface="Mangal" panose="02040503050203030202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07F49-1CE5-76E2-649C-38B5184E0A97}"/>
              </a:ext>
            </a:extLst>
          </p:cNvPr>
          <p:cNvSpPr/>
          <p:nvPr/>
        </p:nvSpPr>
        <p:spPr>
          <a:xfrm>
            <a:off x="4668559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bg2"/>
                </a:solidFill>
                <a:latin typeface="Manrope" pitchFamily="2" charset="0"/>
              </a:rPr>
              <a:t>TBU after accessing to Xanh’s financial documents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4FDA0F-5584-4CC7-C1FB-A2DDEC077DF1}"/>
              </a:ext>
            </a:extLst>
          </p:cNvPr>
          <p:cNvSpPr/>
          <p:nvPr/>
        </p:nvSpPr>
        <p:spPr>
          <a:xfrm>
            <a:off x="6836987" y="2260327"/>
            <a:ext cx="2003713" cy="2085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Positioning to become a one-stop platform for modern brand-building: blending culture, content, and commerce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Platform model unlocks economies of scale and cross-selling opportunities for strategic players</a:t>
            </a:r>
          </a:p>
          <a:p>
            <a:pPr marL="96838" indent="-96838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Manrope" pitchFamily="2" charset="0"/>
              </a:rPr>
              <a:t>Ideal platform for both strategic and financial investors to “invest and build” and consolidate similar players in the 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447</Words>
  <Application>Microsoft Office PowerPoint</Application>
  <PresentationFormat>On-screen Show (16:9)</PresentationFormat>
  <Paragraphs>49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Manrope</vt:lpstr>
      <vt:lpstr>Simple Light</vt:lpstr>
      <vt:lpstr>A decade of innovation, growth with digital frontier</vt:lpstr>
      <vt:lpstr>Vietnam’s ecommerce and social commerce boom - a digital gold rush</vt:lpstr>
      <vt:lpstr>Proposed investment highlights to best position Xanh Marketing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21</cp:revision>
  <dcterms:modified xsi:type="dcterms:W3CDTF">2025-12-04T03:08:32Z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0x010100BCF23041F193214B8E57F0E285C1A82C</vt:lpwstr>
  </property>
</Properties>
</file>