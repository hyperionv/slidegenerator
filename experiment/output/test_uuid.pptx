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7" r:id="rId5"/>
    <p:sldId id="258" r:id="rId6"/>
    <p:sldId id="259" r:id="rId7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Sheet1!$B$4</c:f>
              <c:strCache>
                <c:ptCount val="1"/>
                <c:pt idx="0">
                  <c:v>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Sheet1!$C$2:$G$2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Sheet1!$C$4:$G$4</c:f>
              <c:numCache>
                <c:formatCode>_(* #,##0.0_);_(* \(#,##0.0\);_(* "-"_);_(@_)</c:formatCode>
                <c:ptCount val="5"/>
                <c:pt idx="0">
                  <c:v>16.100000000000001</c:v>
                </c:pt>
                <c:pt idx="1">
                  <c:v>17.66009</c:v>
                </c:pt>
                <c:pt idx="2">
                  <c:v>19.371352721000001</c:v>
                </c:pt>
                <c:pt idx="3">
                  <c:v>21.248436799664901</c:v>
                </c:pt>
                <c:pt idx="4">
                  <c:v>23.307410325552429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1"/>
        <c:axId val="820053456"/>
        <c:axId val="820055168"/>
      </c:barChart>
      <c:catAx>
        <c:axId val="82005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1"/>
        <c:majorTickMark val="none"/>
        <c:minorTickMark val="none"/>
        <c:tickLblPos val="nextTo"/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5f73c21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5f73c21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6.jpe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aec1c739-3eda-4239-a5cd-4cbd78eb327c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solidFill>
                  <a:srgbClr val="000000"/>
                </a:solidFill>
                <a:latin typeface="Manrope"/>
              </a:rPr>
              <a:t>7de970bd-68dc-4f8e-b560-7d5451e46e9f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>
            <a:avLst/>
          </a:prstGeom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>
            <a:avLst/>
          </a:prstGeom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>
            <a:avLst/>
          </a:prstGeom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>
            <a:avLst/>
          </a:prstGeom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>
            <a:avLst/>
          </a:prstGeom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>
            <a:avLst/>
          </a:prstGeom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>
            <a:avLst/>
          </a:prstGeom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>
            <a:avLst/>
          </a:prstGeom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bc47960b-e104-47ab-b4a4-b127e735ce44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solidFill>
                  <a:srgbClr val="000000"/>
                </a:solidFill>
                <a:latin typeface="Manrope"/>
              </a:rPr>
              <a:t>949e3ba8-26c9-46c6-ba76-da7adf472d8c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3d6ec9ce-dfe8-47f5-859a-ae45ca75dc5a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solidFill>
                  <a:srgbClr val="000000"/>
                </a:solidFill>
                <a:latin typeface="Manrope"/>
              </a:rPr>
              <a:t>8263fbe3-91ce-44f0-add0-6af8554622d0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ec345256-0597-481d-be25-79a2e2fb7e7a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solidFill>
                  <a:srgbClr val="000000"/>
                </a:solidFill>
                <a:latin typeface="Manrope"/>
              </a:rPr>
              <a:t>570a379c-9e43-48a9-a73d-860b5c105efe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3397e5e0-c935-48a8-a322-35f84655ff4d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solidFill>
                  <a:srgbClr val="000000"/>
                </a:solidFill>
                <a:latin typeface="Manrope"/>
              </a:rPr>
              <a:t>2d6e1f26-c811-40ff-9fa2-7e50b6fc8b0c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805" y="3230940"/>
            <a:ext cx="1073524" cy="60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575" y="2128229"/>
            <a:ext cx="364450" cy="3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>
            <a:avLst/>
          </a:prstGeom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7575" y="2693441"/>
            <a:ext cx="364451" cy="36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9500" y="3336666"/>
            <a:ext cx="666926" cy="15500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f5fca16c-c52b-4579-95c1-5556a9ce1bfa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11d05405-af6e-4882-b522-690373824815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44d275f6-a53a-48a7-80fe-cea7fa3e0b37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f84cec46-9cb9-44fc-bea6-4fe709e76b44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solidFill>
                  <a:srgbClr val="000000"/>
                </a:solidFill>
                <a:latin typeface="Manrope"/>
              </a:rPr>
              <a:t>6b9e1524-9e0b-4836-8edc-3da339d19663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311700" y="1044807"/>
            <a:ext cx="4160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1284F"/>
                </a:solidFill>
                <a:latin typeface="Manrope"/>
              </a:rPr>
              <a:t>07da36ac-7271-489a-859b-4a7f2cb904f2</a:t>
            </a:r>
            <a:endParaRPr sz="11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>
            <a:cxnSpLocks/>
          </p:cNvCxnSpPr>
          <p:nvPr/>
        </p:nvCxnSpPr>
        <p:spPr>
          <a:xfrm>
            <a:off x="311700" y="1387944"/>
            <a:ext cx="8521150" cy="0"/>
          </a:xfrm>
          <a:prstGeom prst="straightConnector1">
            <a:avLst/>
          </a:prstGeom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245827F-10B9-5075-451F-B8DED91A4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>
            <a:extLst>
              <a:ext uri="{FF2B5EF4-FFF2-40B4-BE49-F238E27FC236}">
                <a16:creationId xmlns:a16="http://schemas.microsoft.com/office/drawing/2014/main" id="{62D8C9C6-FB03-D940-2B18-7D56A56ADEFE}"/>
              </a:ext>
            </a:extLst>
          </p:cNvPr>
          <p:cNvSpPr/>
          <p:nvPr/>
        </p:nvSpPr>
        <p:spPr>
          <a:xfrm>
            <a:off x="311700" y="1436607"/>
            <a:ext cx="3225000" cy="15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751fe745-d56f-4003-a927-3c984ce78bb4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>
            <a:extLst>
              <a:ext uri="{FF2B5EF4-FFF2-40B4-BE49-F238E27FC236}">
                <a16:creationId xmlns:a16="http://schemas.microsoft.com/office/drawing/2014/main" id="{0BB0DD2E-3D46-1319-85E9-721A8BD6754F}"/>
              </a:ext>
            </a:extLst>
          </p:cNvPr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8d363d04-39c7-4177-8ecc-88de8c8a829e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>
            <a:extLst>
              <a:ext uri="{FF2B5EF4-FFF2-40B4-BE49-F238E27FC236}">
                <a16:creationId xmlns:a16="http://schemas.microsoft.com/office/drawing/2014/main" id="{D7575F91-11CC-1144-7A08-EB8DC57327A9}"/>
              </a:ext>
            </a:extLst>
          </p:cNvPr>
          <p:cNvSpPr/>
          <p:nvPr/>
        </p:nvSpPr>
        <p:spPr>
          <a:xfrm>
            <a:off x="348882" y="3859393"/>
            <a:ext cx="8483418" cy="836745"/>
          </a:xfrm>
          <a:prstGeom prst="rect">
            <a:avLst/>
          </a:prstGeom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/>
          <a:p>
            <a:pPr/>
            <a:r>
              <a:rPr sz="900">
                <a:solidFill>
                  <a:srgbClr val="000000"/>
                </a:solidFill>
                <a:latin typeface="Manrope"/>
              </a:rPr>
              <a:t>9074e8a3-76dc-480f-a0e3-1c70bd2ea4f9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70E3F2-C496-220D-182C-231AADB59465}"/>
              </a:ext>
            </a:extLst>
          </p:cNvPr>
          <p:cNvSpPr/>
          <p:nvPr/>
        </p:nvSpPr>
        <p:spPr>
          <a:xfrm>
            <a:off x="348880" y="3859393"/>
            <a:ext cx="754999" cy="83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28" name="Picture 4" descr="Onpoint E-commerce">
            <a:extLst>
              <a:ext uri="{FF2B5EF4-FFF2-40B4-BE49-F238E27FC236}">
                <a16:creationId xmlns:a16="http://schemas.microsoft.com/office/drawing/2014/main" id="{A33C07C0-1F9B-112B-59D8-2C1160A69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2" b="38527"/>
          <a:stretch>
            <a:fillRect/>
          </a:stretch>
        </p:blipFill>
        <p:spPr bwMode="auto">
          <a:xfrm>
            <a:off x="374691" y="4205029"/>
            <a:ext cx="703376" cy="16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>
            <a:extLst>
              <a:ext uri="{FF2B5EF4-FFF2-40B4-BE49-F238E27FC236}">
                <a16:creationId xmlns:a16="http://schemas.microsoft.com/office/drawing/2014/main" id="{09C39C24-0E55-9D1E-4EB9-81BD06D97723}"/>
              </a:ext>
            </a:extLst>
          </p:cNvPr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5d23ce49-0e3f-42d1-af98-a87155db7951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>
            <a:extLst>
              <a:ext uri="{FF2B5EF4-FFF2-40B4-BE49-F238E27FC236}">
                <a16:creationId xmlns:a16="http://schemas.microsoft.com/office/drawing/2014/main" id="{84DDC990-4CE7-8693-695F-6FF80C5FE3C2}"/>
              </a:ext>
            </a:extLst>
          </p:cNvPr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2a840a69-71e2-4a54-a84c-66641e0995e6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>
            <a:extLst>
              <a:ext uri="{FF2B5EF4-FFF2-40B4-BE49-F238E27FC236}">
                <a16:creationId xmlns:a16="http://schemas.microsoft.com/office/drawing/2014/main" id="{C5A183CE-4522-84F5-0E8B-C37245059318}"/>
              </a:ext>
            </a:extLst>
          </p:cNvPr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426e350a-5225-4fa1-97b6-b183584f1f51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>
            <a:extLst>
              <a:ext uri="{FF2B5EF4-FFF2-40B4-BE49-F238E27FC236}">
                <a16:creationId xmlns:a16="http://schemas.microsoft.com/office/drawing/2014/main" id="{ED93ACED-556B-A438-E382-C02CE64E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43" y="1970764"/>
            <a:ext cx="297586" cy="29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>
            <a:extLst>
              <a:ext uri="{FF2B5EF4-FFF2-40B4-BE49-F238E27FC236}">
                <a16:creationId xmlns:a16="http://schemas.microsoft.com/office/drawing/2014/main" id="{1FA658E1-A5D4-4B3C-A413-12F929515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250" y="2532996"/>
            <a:ext cx="303283" cy="30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>
            <a:extLst>
              <a:ext uri="{FF2B5EF4-FFF2-40B4-BE49-F238E27FC236}">
                <a16:creationId xmlns:a16="http://schemas.microsoft.com/office/drawing/2014/main" id="{A955460E-EDEA-B466-B4A1-BACF92D5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1" y="3091987"/>
            <a:ext cx="341276" cy="3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>
            <a:extLst>
              <a:ext uri="{FF2B5EF4-FFF2-40B4-BE49-F238E27FC236}">
                <a16:creationId xmlns:a16="http://schemas.microsoft.com/office/drawing/2014/main" id="{511A2F32-6897-D3A4-E7CE-8B8279FA0B53}"/>
              </a:ext>
            </a:extLst>
          </p:cNvPr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69324784-d893-4d24-95a2-1c6bb6be25c5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>
            <a:extLst>
              <a:ext uri="{FF2B5EF4-FFF2-40B4-BE49-F238E27FC236}">
                <a16:creationId xmlns:a16="http://schemas.microsoft.com/office/drawing/2014/main" id="{664D05F5-327D-7F72-0FCD-5A1E85017BEB}"/>
              </a:ext>
            </a:extLst>
          </p:cNvPr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f24cd5c8-9be2-438f-9960-f661f8902f84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>
            <a:extLst>
              <a:ext uri="{FF2B5EF4-FFF2-40B4-BE49-F238E27FC236}">
                <a16:creationId xmlns:a16="http://schemas.microsoft.com/office/drawing/2014/main" id="{D0B1EB4D-A13C-6BA3-9891-7C2238CFD2DE}"/>
              </a:ext>
            </a:extLst>
          </p:cNvPr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1d86dedd-eab7-492d-9c9d-cf1bf27af43e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f1214e0f-a3dc-40ca-a101-0ad14684f683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solidFill>
                  <a:srgbClr val="000000"/>
                </a:solidFill>
                <a:latin typeface="Manrope"/>
              </a:rPr>
              <a:t>ac9aa1b0-3fe6-4445-9cbe-c721a7e09225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Xanh Marketing | MMA Global">
            <a:extLst>
              <a:ext uri="{FF2B5EF4-FFF2-40B4-BE49-F238E27FC236}">
                <a16:creationId xmlns:a16="http://schemas.microsoft.com/office/drawing/2014/main" id="{2FF07E6F-46FC-36A7-BFA4-50C89ECA1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58" y="1125500"/>
            <a:ext cx="2362883" cy="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8A2E15-6794-E92F-6EF3-85A47E80A51F}"/>
              </a:ext>
            </a:extLst>
          </p:cNvPr>
          <p:cNvSpPr/>
          <p:nvPr/>
        </p:nvSpPr>
        <p:spPr>
          <a:xfrm>
            <a:off x="323850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BEB25-0677-7B5A-384F-B1CAA30190B0}"/>
              </a:ext>
            </a:extLst>
          </p:cNvPr>
          <p:cNvSpPr/>
          <p:nvPr/>
        </p:nvSpPr>
        <p:spPr>
          <a:xfrm>
            <a:off x="2492279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EA439-CD7B-51D6-89EA-E1E2A0BF3E45}"/>
              </a:ext>
            </a:extLst>
          </p:cNvPr>
          <p:cNvSpPr/>
          <p:nvPr/>
        </p:nvSpPr>
        <p:spPr>
          <a:xfrm>
            <a:off x="4660708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3E3AD-9659-7C70-3056-E73B92A1F4DE}"/>
              </a:ext>
            </a:extLst>
          </p:cNvPr>
          <p:cNvSpPr/>
          <p:nvPr/>
        </p:nvSpPr>
        <p:spPr>
          <a:xfrm>
            <a:off x="6829136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Google Shape;188;p19">
            <a:extLst>
              <a:ext uri="{FF2B5EF4-FFF2-40B4-BE49-F238E27FC236}">
                <a16:creationId xmlns:a16="http://schemas.microsoft.com/office/drawing/2014/main" id="{DFD6E7D3-5631-529D-FAFC-4489FB2A7525}"/>
              </a:ext>
            </a:extLst>
          </p:cNvPr>
          <p:cNvCxnSpPr>
            <a:cxnSpLocks/>
          </p:cNvCxnSpPr>
          <p:nvPr/>
        </p:nvCxnSpPr>
        <p:spPr>
          <a:xfrm>
            <a:off x="3238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88;p19">
            <a:extLst>
              <a:ext uri="{FF2B5EF4-FFF2-40B4-BE49-F238E27FC236}">
                <a16:creationId xmlns:a16="http://schemas.microsoft.com/office/drawing/2014/main" id="{1A70FF56-79EA-05D2-5137-7796CA2A3688}"/>
              </a:ext>
            </a:extLst>
          </p:cNvPr>
          <p:cNvCxnSpPr>
            <a:cxnSpLocks/>
          </p:cNvCxnSpPr>
          <p:nvPr/>
        </p:nvCxnSpPr>
        <p:spPr>
          <a:xfrm>
            <a:off x="24877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8;p19">
            <a:extLst>
              <a:ext uri="{FF2B5EF4-FFF2-40B4-BE49-F238E27FC236}">
                <a16:creationId xmlns:a16="http://schemas.microsoft.com/office/drawing/2014/main" id="{0B5835AE-11F1-22E8-6D6A-E7DB52AB4094}"/>
              </a:ext>
            </a:extLst>
          </p:cNvPr>
          <p:cNvCxnSpPr>
            <a:cxnSpLocks/>
          </p:cNvCxnSpPr>
          <p:nvPr/>
        </p:nvCxnSpPr>
        <p:spPr>
          <a:xfrm>
            <a:off x="4660708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DCC0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8;p19">
            <a:extLst>
              <a:ext uri="{FF2B5EF4-FFF2-40B4-BE49-F238E27FC236}">
                <a16:creationId xmlns:a16="http://schemas.microsoft.com/office/drawing/2014/main" id="{357C9C08-53ED-6443-B69B-1086B79F5BAE}"/>
              </a:ext>
            </a:extLst>
          </p:cNvPr>
          <p:cNvCxnSpPr>
            <a:cxnSpLocks/>
          </p:cNvCxnSpPr>
          <p:nvPr/>
        </p:nvCxnSpPr>
        <p:spPr>
          <a:xfrm>
            <a:off x="6821286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1EA89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34;p16">
            <a:extLst>
              <a:ext uri="{FF2B5EF4-FFF2-40B4-BE49-F238E27FC236}">
                <a16:creationId xmlns:a16="http://schemas.microsoft.com/office/drawing/2014/main" id="{FD6BEF3A-2085-F196-E3B8-1CA2C7C995C6}"/>
              </a:ext>
            </a:extLst>
          </p:cNvPr>
          <p:cNvSpPr txBox="1">
            <a:spLocks/>
          </p:cNvSpPr>
          <p:nvPr/>
        </p:nvSpPr>
        <p:spPr>
          <a:xfrm>
            <a:off x="323850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01284F"/>
                </a:solidFill>
                <a:latin typeface="Manrope"/>
              </a:rPr>
              <a:t>16ccb5c1-a630-4441-b5dc-d78302503249</a:t>
            </a:r>
          </a:p>
        </p:txBody>
      </p:sp>
      <p:sp>
        <p:nvSpPr>
          <p:cNvPr id="17" name="Google Shape;134;p16">
            <a:extLst>
              <a:ext uri="{FF2B5EF4-FFF2-40B4-BE49-F238E27FC236}">
                <a16:creationId xmlns:a16="http://schemas.microsoft.com/office/drawing/2014/main" id="{B332ACC8-F226-D0B3-4B03-6395A065AFDD}"/>
              </a:ext>
            </a:extLst>
          </p:cNvPr>
          <p:cNvSpPr txBox="1">
            <a:spLocks/>
          </p:cNvSpPr>
          <p:nvPr/>
        </p:nvSpPr>
        <p:spPr>
          <a:xfrm>
            <a:off x="2484428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436E99"/>
                </a:solidFill>
                <a:latin typeface="Manrope"/>
              </a:rPr>
              <a:t>b7b90136-d90c-4ff7-840a-f6f65619c25d</a:t>
            </a:r>
          </a:p>
        </p:txBody>
      </p:sp>
      <p:sp>
        <p:nvSpPr>
          <p:cNvPr id="18" name="Google Shape;134;p16">
            <a:extLst>
              <a:ext uri="{FF2B5EF4-FFF2-40B4-BE49-F238E27FC236}">
                <a16:creationId xmlns:a16="http://schemas.microsoft.com/office/drawing/2014/main" id="{40DFE097-C3FA-A028-AAF1-9F4F9EEA03A6}"/>
              </a:ext>
            </a:extLst>
          </p:cNvPr>
          <p:cNvSpPr txBox="1">
            <a:spLocks/>
          </p:cNvSpPr>
          <p:nvPr/>
        </p:nvSpPr>
        <p:spPr>
          <a:xfrm>
            <a:off x="4660707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DCC086"/>
                </a:solidFill>
                <a:latin typeface="Manrope"/>
              </a:rPr>
              <a:t>740b9225-ff1c-44ce-a6b5-7fedf6a7936d</a:t>
            </a:r>
          </a:p>
        </p:txBody>
      </p:sp>
      <p:sp>
        <p:nvSpPr>
          <p:cNvPr id="19" name="Google Shape;134;p16">
            <a:extLst>
              <a:ext uri="{FF2B5EF4-FFF2-40B4-BE49-F238E27FC236}">
                <a16:creationId xmlns:a16="http://schemas.microsoft.com/office/drawing/2014/main" id="{EE3426EB-4896-B4C4-DE7C-8008207D5E1A}"/>
              </a:ext>
            </a:extLst>
          </p:cNvPr>
          <p:cNvSpPr txBox="1">
            <a:spLocks/>
          </p:cNvSpPr>
          <p:nvPr/>
        </p:nvSpPr>
        <p:spPr>
          <a:xfrm>
            <a:off x="6821286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1EA89B"/>
                </a:solidFill>
                <a:latin typeface="Manrope"/>
              </a:rPr>
              <a:t>62f2b286-5eff-411b-ab5d-5c52eca48438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31D84D-AD5E-F1E6-E141-85737632F54E}"/>
              </a:ext>
            </a:extLst>
          </p:cNvPr>
          <p:cNvSpPr/>
          <p:nvPr/>
        </p:nvSpPr>
        <p:spPr>
          <a:xfrm>
            <a:off x="324000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rgbClr val="000000"/>
                </a:solidFill>
                <a:latin typeface="Manrope"/>
              </a:rPr>
              <a:t>e86dfdcb-49dd-42d6-9b75-55da8126f02d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51D967-7D47-0DD6-AE8A-8BC01F291D2B}"/>
              </a:ext>
            </a:extLst>
          </p:cNvPr>
          <p:cNvSpPr/>
          <p:nvPr/>
        </p:nvSpPr>
        <p:spPr>
          <a:xfrm>
            <a:off x="2484426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rgbClr val="000000"/>
                </a:solidFill>
                <a:latin typeface="Manrope"/>
              </a:rPr>
              <a:t>60afa40e-17e8-4339-9b55-de35758b6ad9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007F49-1CE5-76E2-649C-38B5184E0A97}"/>
              </a:ext>
            </a:extLst>
          </p:cNvPr>
          <p:cNvSpPr/>
          <p:nvPr/>
        </p:nvSpPr>
        <p:spPr>
          <a:xfrm>
            <a:off x="4668559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 i="1">
                <a:solidFill>
                  <a:srgbClr val="000000"/>
                </a:solidFill>
                <a:latin typeface="Manrope"/>
              </a:rPr>
              <a:t>4e1d2183-ead9-47a3-89a6-ec943b23476c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4FDA0F-5584-4CC7-C1FB-A2DDEC077DF1}"/>
              </a:ext>
            </a:extLst>
          </p:cNvPr>
          <p:cNvSpPr/>
          <p:nvPr/>
        </p:nvSpPr>
        <p:spPr>
          <a:xfrm>
            <a:off x="6836987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rgbClr val="000000"/>
                </a:solidFill>
                <a:latin typeface="Manrope"/>
              </a:rPr>
              <a:t>3458f662-fabd-4e0c-ac6d-bb4cd8ac1f77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Props1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451</Words>
  <Application>Microsoft Office PowerPoint</Application>
  <PresentationFormat>On-screen Show (16:9)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Manrope</vt:lpstr>
      <vt:lpstr>Arial</vt:lpstr>
      <vt:lpstr>Simple Light</vt:lpstr>
      <vt:lpstr>A decade of innovation, growth with digital frontier</vt:lpstr>
      <vt:lpstr>Vietnam’s ecommerce and social commerce boom - a digital gold rush</vt:lpstr>
      <vt:lpstr>Proposed investment highlights to best position Xanh Marketing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12</cp:revision>
  <dcterms:modified xsi:type="dcterms:W3CDTF">2025-10-18T16:43:09Z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0x010100BCF23041F193214B8E57F0E285C1A82C</vt:lpwstr>
  </property>
</Properties>
</file>