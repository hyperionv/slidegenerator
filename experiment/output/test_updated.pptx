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7" r:id="rId5"/>
    <p:sldId id="258" r:id="rId6"/>
    <p:sldId id="259" r:id="rId7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Sheet1!$C$4:$G$4</c:f>
              <c:numCache>
                <c:formatCode>_(* #,##0.0_);_(* \(#,##0.0\);_(* "-"_);_(@_)</c:formatCode>
                <c:ptCount val="5"/>
                <c:pt idx="0">
                  <c:v>16.100000000000001</c:v>
                </c:pt>
                <c:pt idx="1">
                  <c:v>17.66009</c:v>
                </c:pt>
                <c:pt idx="2">
                  <c:v>19.371352721000001</c:v>
                </c:pt>
                <c:pt idx="3">
                  <c:v>21.248436799664901</c:v>
                </c:pt>
                <c:pt idx="4">
                  <c:v>23.307410325552429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1"/>
        <c:axId val="820053456"/>
        <c:axId val="820055168"/>
      </c:barChart>
      <c:catAx>
        <c:axId val="82005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6.jpe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Main slide headline summarizing the overarching journey or achievement theme — e.g., 'A decade of innovation and impact' or 'Evolving through creativity and strategy'.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solidFill>
                  <a:srgbClr val="000000"/>
                </a:solidFill>
                <a:latin typeface="Manrope"/>
              </a:rPr>
              <a:t>Subheadline providing a concise descriptor of the organization’s capabilities or unique positioning — e.g., 'Comprehensive marketing and branding solutions' or 'Integrating culture with digital intelligence'.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>
            <a:avLst/>
          </a:prstGeom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>
            <a:avLst/>
          </a:prstGeom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>
            <a:avLst/>
          </a:prstGeom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>
            <a:avLst/>
          </a:prstGeom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>
            <a:avLst/>
          </a:prstGeom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>
            <a:avLst/>
          </a:prstGeom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>
            <a:avLst/>
          </a:prstGeom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>
            <a:avLst/>
          </a:prstGeom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Section title marking the first milestone or phase of inception — typically labeled as 'Founding vision' or 'Establishment and core mission'.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Supporting paragraph describing the founding intent, guiding philosophy, or early differentiators — e.g., emphasis on innovation, cultural insight, or customer-centricity.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Section title introducing a key innovation, proprietary model, or framework developed during growth — e.g., 'Introduction of a strategic framework' or 'Launch of signature methodology'.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Text body explaining the innovation or framework’s concept, inspiration, and purpose — e.g., a planning model or creative process inspired by local culture or strategic insights.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Section title highlighting service diversification or business expansion — e.g., 'Expansion of portfolio' or 'Scaling operations and clientele'.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Bullet points summarizing expansion details — new services, extended client base, or cumulative achievements (e.g., number of clients or projects).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Section title introducing a recent or advanced initiative — e.g., 'Launch of a new division' or 'Strategic partnership formation'.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Introductory sentence describing the scope or purpose of the newly introduced initiative — e.g., 'Introducing a new suite of integrated solutions including:'.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805" y="3230940"/>
            <a:ext cx="1073524" cy="60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575" y="2128229"/>
            <a:ext cx="364450" cy="3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>
            <a:avLst/>
          </a:prstGeom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7575" y="2693441"/>
            <a:ext cx="364451" cy="36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9500" y="3336666"/>
            <a:ext cx="666926" cy="1550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Bullet point describing one key component or service category of the initiative — e.g., 'Social media engagement strategies'.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Another bullet point listing an additional core service — e.g., 'E-commerce enablement and digital transformation'.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Final bullet point covering complementary capabilities or production aspects — e.g., 'Creative content development and multimedia production'.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c277ca4d-ffd2-4cf2-9d49-a67d941dc7cd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solidFill>
                  <a:srgbClr val="000000"/>
                </a:solidFill>
                <a:latin typeface="Manrope"/>
              </a:rPr>
              <a:t>70936aa4-9866-4f12-89c4-84dba138ec6d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11700" y="1044807"/>
            <a:ext cx="4160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1284F"/>
                </a:solidFill>
                <a:latin typeface="Manrope"/>
              </a:rPr>
              <a:t>760c6b89-700a-4c1d-83da-bad2e8361241</a:t>
            </a:r>
            <a:endParaRPr sz="11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>
            <a:cxnSpLocks/>
          </p:cNvCxnSpPr>
          <p:nvPr/>
        </p:nvCxnSpPr>
        <p:spPr>
          <a:xfrm>
            <a:off x="311700" y="1387944"/>
            <a:ext cx="8521150" cy="0"/>
          </a:xfrm>
          <a:prstGeom prst="straightConnector1">
            <a:avLst/>
          </a:prstGeom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245827F-10B9-5075-451F-B8DED91A4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62D8C9C6-FB03-D940-2B18-7D56A56ADEFE}"/>
              </a:ext>
            </a:extLst>
          </p:cNvPr>
          <p:cNvSpPr/>
          <p:nvPr/>
        </p:nvSpPr>
        <p:spPr>
          <a:xfrm>
            <a:off x="311700" y="1436607"/>
            <a:ext cx="3225000" cy="1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7a5b7fb1-fc84-4474-b5cc-460271dccc42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>
            <a:extLst>
              <a:ext uri="{FF2B5EF4-FFF2-40B4-BE49-F238E27FC236}">
                <a16:creationId xmlns:a16="http://schemas.microsoft.com/office/drawing/2014/main" id="{0BB0DD2E-3D46-1319-85E9-721A8BD6754F}"/>
              </a:ext>
            </a:extLst>
          </p:cNvPr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d096881c-1153-4bb4-bbd0-c7ca7f146189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>
            <a:extLst>
              <a:ext uri="{FF2B5EF4-FFF2-40B4-BE49-F238E27FC236}">
                <a16:creationId xmlns:a16="http://schemas.microsoft.com/office/drawing/2014/main" id="{D7575F91-11CC-1144-7A08-EB8DC57327A9}"/>
              </a:ext>
            </a:extLst>
          </p:cNvPr>
          <p:cNvSpPr/>
          <p:nvPr/>
        </p:nvSpPr>
        <p:spPr>
          <a:xfrm>
            <a:off x="348882" y="3859393"/>
            <a:ext cx="8483418" cy="836745"/>
          </a:xfrm>
          <a:prstGeom prst="rect">
            <a:avLst/>
          </a:prstGeom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r>
              <a:rPr sz="900">
                <a:solidFill>
                  <a:srgbClr val="000000"/>
                </a:solidFill>
                <a:latin typeface="Manrope"/>
              </a:rPr>
              <a:t>8456681c-3812-43ab-a9c0-2bf93d23ea7a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0E3F2-C496-220D-182C-231AADB59465}"/>
              </a:ext>
            </a:extLst>
          </p:cNvPr>
          <p:cNvSpPr/>
          <p:nvPr/>
        </p:nvSpPr>
        <p:spPr>
          <a:xfrm>
            <a:off x="348880" y="3859393"/>
            <a:ext cx="754999" cy="8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8" name="Picture 4" descr="Onpoint E-commerce">
            <a:extLst>
              <a:ext uri="{FF2B5EF4-FFF2-40B4-BE49-F238E27FC236}">
                <a16:creationId xmlns:a16="http://schemas.microsoft.com/office/drawing/2014/main" id="{A33C07C0-1F9B-112B-59D8-2C1160A6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38527"/>
          <a:stretch>
            <a:fillRect/>
          </a:stretch>
        </p:blipFill>
        <p:spPr bwMode="auto">
          <a:xfrm>
            <a:off x="374691" y="4205029"/>
            <a:ext cx="703376" cy="16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>
            <a:extLst>
              <a:ext uri="{FF2B5EF4-FFF2-40B4-BE49-F238E27FC236}">
                <a16:creationId xmlns:a16="http://schemas.microsoft.com/office/drawing/2014/main" id="{09C39C24-0E55-9D1E-4EB9-81BD06D97723}"/>
              </a:ext>
            </a:extLst>
          </p:cNvPr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9b729f1e-0f7d-4d9f-a649-f70f09a330ea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>
            <a:extLst>
              <a:ext uri="{FF2B5EF4-FFF2-40B4-BE49-F238E27FC236}">
                <a16:creationId xmlns:a16="http://schemas.microsoft.com/office/drawing/2014/main" id="{84DDC990-4CE7-8693-695F-6FF80C5FE3C2}"/>
              </a:ext>
            </a:extLst>
          </p:cNvPr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f1ac8c90-d5ef-4cea-a4a6-aade80236dd8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>
            <a:extLst>
              <a:ext uri="{FF2B5EF4-FFF2-40B4-BE49-F238E27FC236}">
                <a16:creationId xmlns:a16="http://schemas.microsoft.com/office/drawing/2014/main" id="{C5A183CE-4522-84F5-0E8B-C37245059318}"/>
              </a:ext>
            </a:extLst>
          </p:cNvPr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b149b3af-dade-4f3a-973e-6375c2627d84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>
            <a:extLst>
              <a:ext uri="{FF2B5EF4-FFF2-40B4-BE49-F238E27FC236}">
                <a16:creationId xmlns:a16="http://schemas.microsoft.com/office/drawing/2014/main" id="{ED93ACED-556B-A438-E382-C02CE64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43" y="1970764"/>
            <a:ext cx="297586" cy="2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>
            <a:extLst>
              <a:ext uri="{FF2B5EF4-FFF2-40B4-BE49-F238E27FC236}">
                <a16:creationId xmlns:a16="http://schemas.microsoft.com/office/drawing/2014/main" id="{1FA658E1-A5D4-4B3C-A413-12F92951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250" y="2532996"/>
            <a:ext cx="303283" cy="30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>
            <a:extLst>
              <a:ext uri="{FF2B5EF4-FFF2-40B4-BE49-F238E27FC236}">
                <a16:creationId xmlns:a16="http://schemas.microsoft.com/office/drawing/2014/main" id="{A955460E-EDEA-B466-B4A1-BACF92D5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1" y="3091987"/>
            <a:ext cx="341276" cy="3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>
            <a:extLst>
              <a:ext uri="{FF2B5EF4-FFF2-40B4-BE49-F238E27FC236}">
                <a16:creationId xmlns:a16="http://schemas.microsoft.com/office/drawing/2014/main" id="{511A2F32-6897-D3A4-E7CE-8B8279FA0B53}"/>
              </a:ext>
            </a:extLst>
          </p:cNvPr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9411b1db-a43b-438b-8e02-c275d51a499a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>
            <a:extLst>
              <a:ext uri="{FF2B5EF4-FFF2-40B4-BE49-F238E27FC236}">
                <a16:creationId xmlns:a16="http://schemas.microsoft.com/office/drawing/2014/main" id="{664D05F5-327D-7F72-0FCD-5A1E85017BEB}"/>
              </a:ext>
            </a:extLst>
          </p:cNvPr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a1bcb5ed-8974-4e8d-8438-c2e3aaa8b054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>
            <a:extLst>
              <a:ext uri="{FF2B5EF4-FFF2-40B4-BE49-F238E27FC236}">
                <a16:creationId xmlns:a16="http://schemas.microsoft.com/office/drawing/2014/main" id="{D0B1EB4D-A13C-6BA3-9891-7C2238CFD2DE}"/>
              </a:ext>
            </a:extLst>
          </p:cNvPr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dec9c252-8975-47bb-9bb3-6df15b51c6cc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336603bb-c16c-4704-82fa-0da341c0fb90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solidFill>
                  <a:srgbClr val="000000"/>
                </a:solidFill>
                <a:latin typeface="Manrope"/>
              </a:rPr>
              <a:t>3ee61893-42b9-4a55-9964-1165949deee2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Xanh Marketing | MMA Global">
            <a:extLst>
              <a:ext uri="{FF2B5EF4-FFF2-40B4-BE49-F238E27FC236}">
                <a16:creationId xmlns:a16="http://schemas.microsoft.com/office/drawing/2014/main" id="{2FF07E6F-46FC-36A7-BFA4-50C89ECA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58" y="1125500"/>
            <a:ext cx="2362883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A2E15-6794-E92F-6EF3-85A47E80A51F}"/>
              </a:ext>
            </a:extLst>
          </p:cNvPr>
          <p:cNvSpPr/>
          <p:nvPr/>
        </p:nvSpPr>
        <p:spPr>
          <a:xfrm>
            <a:off x="323850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BEB25-0677-7B5A-384F-B1CAA30190B0}"/>
              </a:ext>
            </a:extLst>
          </p:cNvPr>
          <p:cNvSpPr/>
          <p:nvPr/>
        </p:nvSpPr>
        <p:spPr>
          <a:xfrm>
            <a:off x="2492279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EA439-CD7B-51D6-89EA-E1E2A0BF3E45}"/>
              </a:ext>
            </a:extLst>
          </p:cNvPr>
          <p:cNvSpPr/>
          <p:nvPr/>
        </p:nvSpPr>
        <p:spPr>
          <a:xfrm>
            <a:off x="4660708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E3AD-9659-7C70-3056-E73B92A1F4DE}"/>
              </a:ext>
            </a:extLst>
          </p:cNvPr>
          <p:cNvSpPr/>
          <p:nvPr/>
        </p:nvSpPr>
        <p:spPr>
          <a:xfrm>
            <a:off x="6829136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Google Shape;188;p19">
            <a:extLst>
              <a:ext uri="{FF2B5EF4-FFF2-40B4-BE49-F238E27FC236}">
                <a16:creationId xmlns:a16="http://schemas.microsoft.com/office/drawing/2014/main" id="{DFD6E7D3-5631-529D-FAFC-4489FB2A7525}"/>
              </a:ext>
            </a:extLst>
          </p:cNvPr>
          <p:cNvCxnSpPr>
            <a:cxnSpLocks/>
          </p:cNvCxnSpPr>
          <p:nvPr/>
        </p:nvCxnSpPr>
        <p:spPr>
          <a:xfrm>
            <a:off x="3238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8;p19">
            <a:extLst>
              <a:ext uri="{FF2B5EF4-FFF2-40B4-BE49-F238E27FC236}">
                <a16:creationId xmlns:a16="http://schemas.microsoft.com/office/drawing/2014/main" id="{1A70FF56-79EA-05D2-5137-7796CA2A3688}"/>
              </a:ext>
            </a:extLst>
          </p:cNvPr>
          <p:cNvCxnSpPr>
            <a:cxnSpLocks/>
          </p:cNvCxnSpPr>
          <p:nvPr/>
        </p:nvCxnSpPr>
        <p:spPr>
          <a:xfrm>
            <a:off x="24877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8;p19">
            <a:extLst>
              <a:ext uri="{FF2B5EF4-FFF2-40B4-BE49-F238E27FC236}">
                <a16:creationId xmlns:a16="http://schemas.microsoft.com/office/drawing/2014/main" id="{0B5835AE-11F1-22E8-6D6A-E7DB52AB4094}"/>
              </a:ext>
            </a:extLst>
          </p:cNvPr>
          <p:cNvCxnSpPr>
            <a:cxnSpLocks/>
          </p:cNvCxnSpPr>
          <p:nvPr/>
        </p:nvCxnSpPr>
        <p:spPr>
          <a:xfrm>
            <a:off x="4660708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DCC0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8;p19">
            <a:extLst>
              <a:ext uri="{FF2B5EF4-FFF2-40B4-BE49-F238E27FC236}">
                <a16:creationId xmlns:a16="http://schemas.microsoft.com/office/drawing/2014/main" id="{357C9C08-53ED-6443-B69B-1086B79F5BAE}"/>
              </a:ext>
            </a:extLst>
          </p:cNvPr>
          <p:cNvCxnSpPr>
            <a:cxnSpLocks/>
          </p:cNvCxnSpPr>
          <p:nvPr/>
        </p:nvCxnSpPr>
        <p:spPr>
          <a:xfrm>
            <a:off x="6821286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1EA89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4;p16">
            <a:extLst>
              <a:ext uri="{FF2B5EF4-FFF2-40B4-BE49-F238E27FC236}">
                <a16:creationId xmlns:a16="http://schemas.microsoft.com/office/drawing/2014/main" id="{FD6BEF3A-2085-F196-E3B8-1CA2C7C995C6}"/>
              </a:ext>
            </a:extLst>
          </p:cNvPr>
          <p:cNvSpPr txBox="1">
            <a:spLocks/>
          </p:cNvSpPr>
          <p:nvPr/>
        </p:nvSpPr>
        <p:spPr>
          <a:xfrm>
            <a:off x="323850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01284F"/>
                </a:solidFill>
                <a:latin typeface="Manrope"/>
              </a:rPr>
              <a:t>162b9057-cf21-4a34-888e-6bab1dadae5b</a:t>
            </a:r>
          </a:p>
        </p:txBody>
      </p:sp>
      <p:sp>
        <p:nvSpPr>
          <p:cNvPr id="17" name="Google Shape;134;p16">
            <a:extLst>
              <a:ext uri="{FF2B5EF4-FFF2-40B4-BE49-F238E27FC236}">
                <a16:creationId xmlns:a16="http://schemas.microsoft.com/office/drawing/2014/main" id="{B332ACC8-F226-D0B3-4B03-6395A065AFDD}"/>
              </a:ext>
            </a:extLst>
          </p:cNvPr>
          <p:cNvSpPr txBox="1">
            <a:spLocks/>
          </p:cNvSpPr>
          <p:nvPr/>
        </p:nvSpPr>
        <p:spPr>
          <a:xfrm>
            <a:off x="2484428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436E99"/>
                </a:solidFill>
                <a:latin typeface="Manrope"/>
              </a:rPr>
              <a:t>458a6867-379e-4b13-825b-d67f21c72d00</a:t>
            </a:r>
          </a:p>
        </p:txBody>
      </p:sp>
      <p:sp>
        <p:nvSpPr>
          <p:cNvPr id="18" name="Google Shape;134;p16">
            <a:extLst>
              <a:ext uri="{FF2B5EF4-FFF2-40B4-BE49-F238E27FC236}">
                <a16:creationId xmlns:a16="http://schemas.microsoft.com/office/drawing/2014/main" id="{40DFE097-C3FA-A028-AAF1-9F4F9EEA03A6}"/>
              </a:ext>
            </a:extLst>
          </p:cNvPr>
          <p:cNvSpPr txBox="1">
            <a:spLocks/>
          </p:cNvSpPr>
          <p:nvPr/>
        </p:nvSpPr>
        <p:spPr>
          <a:xfrm>
            <a:off x="4660707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DCC086"/>
                </a:solidFill>
                <a:latin typeface="Manrope"/>
              </a:rPr>
              <a:t>5393f407-cd4a-487d-b3ab-fc42ba885cf5</a:t>
            </a:r>
          </a:p>
        </p:txBody>
      </p:sp>
      <p:sp>
        <p:nvSpPr>
          <p:cNvPr id="19" name="Google Shape;134;p16">
            <a:extLst>
              <a:ext uri="{FF2B5EF4-FFF2-40B4-BE49-F238E27FC236}">
                <a16:creationId xmlns:a16="http://schemas.microsoft.com/office/drawing/2014/main" id="{EE3426EB-4896-B4C4-DE7C-8008207D5E1A}"/>
              </a:ext>
            </a:extLst>
          </p:cNvPr>
          <p:cNvSpPr txBox="1">
            <a:spLocks/>
          </p:cNvSpPr>
          <p:nvPr/>
        </p:nvSpPr>
        <p:spPr>
          <a:xfrm>
            <a:off x="6821286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1EA89B"/>
                </a:solidFill>
                <a:latin typeface="Manrope"/>
              </a:rPr>
              <a:t>52a3c3f8-d022-4556-8612-60c222c91b19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31D84D-AD5E-F1E6-E141-85737632F54E}"/>
              </a:ext>
            </a:extLst>
          </p:cNvPr>
          <p:cNvSpPr/>
          <p:nvPr/>
        </p:nvSpPr>
        <p:spPr>
          <a:xfrm>
            <a:off x="324000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rgbClr val="000000"/>
                </a:solidFill>
                <a:latin typeface="Manrope"/>
              </a:rPr>
              <a:t>fcd9ac6d-33e2-48d6-8ae7-bfdce3a26218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51D967-7D47-0DD6-AE8A-8BC01F291D2B}"/>
              </a:ext>
            </a:extLst>
          </p:cNvPr>
          <p:cNvSpPr/>
          <p:nvPr/>
        </p:nvSpPr>
        <p:spPr>
          <a:xfrm>
            <a:off x="2484426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rgbClr val="000000"/>
                </a:solidFill>
                <a:latin typeface="Manrope"/>
              </a:rPr>
              <a:t>10d412a2-d463-4d56-bcc8-afdcf023a3d7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07F49-1CE5-76E2-649C-38B5184E0A97}"/>
              </a:ext>
            </a:extLst>
          </p:cNvPr>
          <p:cNvSpPr/>
          <p:nvPr/>
        </p:nvSpPr>
        <p:spPr>
          <a:xfrm>
            <a:off x="4668559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 i="1">
                <a:solidFill>
                  <a:srgbClr val="000000"/>
                </a:solidFill>
                <a:latin typeface="Manrope"/>
              </a:rPr>
              <a:t>45dee3fa-eda1-4f69-b285-bb7124b38336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4FDA0F-5584-4CC7-C1FB-A2DDEC077DF1}"/>
              </a:ext>
            </a:extLst>
          </p:cNvPr>
          <p:cNvSpPr/>
          <p:nvPr/>
        </p:nvSpPr>
        <p:spPr>
          <a:xfrm>
            <a:off x="6836987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rgbClr val="000000"/>
                </a:solidFill>
                <a:latin typeface="Manrope"/>
              </a:rPr>
              <a:t>9a4faa08-64c0-46d5-972b-22dff2acf053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Props1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451</Words>
  <Application>Microsoft Office PowerPoint</Application>
  <PresentationFormat>On-screen Show (16:9)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Manrope</vt:lpstr>
      <vt:lpstr>Arial</vt:lpstr>
      <vt:lpstr>Simple Light</vt:lpstr>
      <vt:lpstr>A decade of innovation, growth with digital frontier</vt:lpstr>
      <vt:lpstr>Vietnam’s ecommerce and social commerce boom - a digital gold rush</vt:lpstr>
      <vt:lpstr>Proposed investment highlights to best position Xanh 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12</cp:revision>
  <dcterms:modified xsi:type="dcterms:W3CDTF">2025-10-18T16:43:09Z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0x010100BCF23041F193214B8E57F0E285C1A82C</vt:lpwstr>
  </property>
</Properties>
</file>