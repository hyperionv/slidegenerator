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8"/>
  </p:notesMasterIdLst>
  <p:sldIdLst>
    <p:sldId id="257" r:id="rId5"/>
    <p:sldId id="258" r:id="rId6"/>
    <p:sldId id="259" r:id="rId7"/>
  </p:sldIdLst>
  <p:sldSz cx="9144000" cy="5143500" type="screen16x9"/>
  <p:notesSz cx="6858000" cy="9144000"/>
  <p:embeddedFontLst>
    <p:embeddedFont>
      <p:font typeface="Manrope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04" userDrawn="1">
          <p15:clr>
            <a:srgbClr val="747775"/>
          </p15:clr>
        </p15:guide>
        <p15:guide id="2" pos="5564">
          <p15:clr>
            <a:srgbClr val="747775"/>
          </p15:clr>
        </p15:guide>
        <p15:guide id="3" orient="horz" pos="42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4F5C"/>
    <a:srgbClr val="436E99"/>
    <a:srgbClr val="DCC086"/>
    <a:srgbClr val="01274F"/>
    <a:srgbClr val="1EA89B"/>
    <a:srgbClr val="D7E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C17D90-5EDD-40C1-A788-3ED6A1A31342}">
  <a:tblStyle styleId="{E2C17D90-5EDD-40C1-A788-3ED6A1A313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1" autoAdjust="0"/>
    <p:restoredTop sz="94681"/>
  </p:normalViewPr>
  <p:slideViewPr>
    <p:cSldViewPr snapToGrid="0">
      <p:cViewPr varScale="1">
        <p:scale>
          <a:sx n="133" d="100"/>
          <a:sy n="133" d="100"/>
        </p:scale>
        <p:origin x="678" y="126"/>
      </p:cViewPr>
      <p:guideLst>
        <p:guide pos="204"/>
        <p:guide pos="5564"/>
        <p:guide orient="horz" pos="4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Sheet1!$B$4</c:f>
              <c:strCache>
                <c:ptCount val="1"/>
                <c:pt idx="0">
                  <c:v>Market size (US$bn)</c:v>
                </c:pt>
              </c:strCache>
            </c:strRef>
          </c:tx>
          <c:spPr>
            <a:solidFill>
              <a:srgbClr val="01274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Manrope" pitchFamily="2" charset="0"/>
                    <a:ea typeface="+mn-ea"/>
                    <a:cs typeface="+mn-cs"/>
                  </a:defRPr>
                </a:pPr>
                <a:endParaRPr lang="en-V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Sheet1!$C$2:$G$2</c:f>
              <c:numCache>
                <c:formatCode>General</c:formatCode>
                <c:ptCount val="5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</c:numCache>
            </c:numRef>
          </c:cat>
          <c:val>
            <c:numRef>
              <c:f>Sheet1!$C$4:$G$4</c:f>
              <c:numCache>
                <c:formatCode>_(* #,##0.0_);_(* \(#,##0.0\);_(* "-"_);_(@_)</c:formatCode>
                <c:ptCount val="5"/>
                <c:pt idx="0">
                  <c:v>16.100000000000001</c:v>
                </c:pt>
                <c:pt idx="1">
                  <c:v>17.66009</c:v>
                </c:pt>
                <c:pt idx="2">
                  <c:v>19.371352721000001</c:v>
                </c:pt>
                <c:pt idx="3">
                  <c:v>21.248436799664901</c:v>
                </c:pt>
                <c:pt idx="4">
                  <c:v>23.307410325552429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79-E749-89D0-D0AE65209F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41"/>
        <c:axId val="820053456"/>
        <c:axId val="820055168"/>
      </c:barChart>
      <c:catAx>
        <c:axId val="820053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VN"/>
          </a:p>
        </c:txPr>
        <c:crossAx val="820055168"/>
        <c:crosses val="autoZero"/>
        <c:auto val="1"/>
        <c:lblAlgn val="ctr"/>
        <c:lblOffset val="100"/>
        <c:noMultiLvlLbl val="0"/>
      </c:catAx>
      <c:valAx>
        <c:axId val="820055168"/>
        <c:scaling>
          <c:orientation val="minMax"/>
        </c:scaling>
        <c:delete val="1"/>
        <c:axPos val="l"/>
        <c:numFmt formatCode="_(* #,##0.0_);_(* \(#,##0.0\);_(* &quot;-&quot;_);_(@_)" sourceLinked="1"/>
        <c:majorTickMark val="none"/>
        <c:minorTickMark val="none"/>
        <c:tickLblPos val="nextTo"/>
        <c:crossAx val="8200534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V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5b2d24ff4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5b2d24ff4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d80bea48c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d80bea48c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d5f73c21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d5f73c21f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335150" y="3994575"/>
            <a:ext cx="8497200" cy="1998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D6EBFF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300" b="1" dirty="0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A decade of innovation, growth with digital frontier</a:t>
            </a:r>
            <a:endParaRPr sz="13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728817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-GB" sz="1100" i="1" dirty="0">
                <a:latin typeface="Manrope"/>
                <a:ea typeface="Manrope"/>
                <a:cs typeface="Manrope"/>
                <a:sym typeface="Manrope"/>
              </a:rPr>
              <a:t>The comprehensive suite of marketing and branding solutions with cultural depth and digital leadership</a:t>
            </a:r>
            <a:endParaRPr sz="1100" i="1" dirty="0"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72" name="Google Shape;72;p14"/>
          <p:cNvCxnSpPr>
            <a:stCxn id="73" idx="1"/>
          </p:cNvCxnSpPr>
          <p:nvPr/>
        </p:nvCxnSpPr>
        <p:spPr>
          <a:xfrm>
            <a:off x="2499263" y="1665329"/>
            <a:ext cx="0" cy="2429400"/>
          </a:xfrm>
          <a:prstGeom prst="straightConnector1">
            <a:avLst/>
          </a:prstGeom>
          <a:noFill/>
          <a:ln w="9525" cap="flat" cmpd="sng">
            <a:solidFill>
              <a:srgbClr val="436E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" name="Google Shape;74;p14"/>
          <p:cNvCxnSpPr>
            <a:stCxn id="75" idx="1"/>
          </p:cNvCxnSpPr>
          <p:nvPr/>
        </p:nvCxnSpPr>
        <p:spPr>
          <a:xfrm>
            <a:off x="6874400" y="1295804"/>
            <a:ext cx="0" cy="2797200"/>
          </a:xfrm>
          <a:prstGeom prst="straightConnector1">
            <a:avLst/>
          </a:prstGeom>
          <a:noFill/>
          <a:ln w="9525" cap="flat" cmpd="sng">
            <a:solidFill>
              <a:srgbClr val="FFF0C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" name="Google Shape;76;p14"/>
          <p:cNvCxnSpPr>
            <a:stCxn id="77" idx="1"/>
          </p:cNvCxnSpPr>
          <p:nvPr/>
        </p:nvCxnSpPr>
        <p:spPr>
          <a:xfrm>
            <a:off x="4686838" y="1484579"/>
            <a:ext cx="0" cy="2639700"/>
          </a:xfrm>
          <a:prstGeom prst="straightConnector1">
            <a:avLst/>
          </a:prstGeom>
          <a:noFill/>
          <a:ln w="9525" cap="flat" cmpd="sng">
            <a:solidFill>
              <a:srgbClr val="DBC08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9" name="Google Shape;7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375" y="197625"/>
            <a:ext cx="666925" cy="666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14"/>
          <p:cNvCxnSpPr>
            <a:stCxn id="81" idx="1"/>
          </p:cNvCxnSpPr>
          <p:nvPr/>
        </p:nvCxnSpPr>
        <p:spPr>
          <a:xfrm>
            <a:off x="311700" y="1867804"/>
            <a:ext cx="0" cy="2224500"/>
          </a:xfrm>
          <a:prstGeom prst="straightConnector1">
            <a:avLst/>
          </a:prstGeom>
          <a:noFill/>
          <a:ln w="9525" cap="flat" cmpd="sng">
            <a:solidFill>
              <a:srgbClr val="01284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82;p14"/>
          <p:cNvSpPr/>
          <p:nvPr/>
        </p:nvSpPr>
        <p:spPr>
          <a:xfrm>
            <a:off x="311700" y="3840675"/>
            <a:ext cx="507600" cy="507600"/>
          </a:xfrm>
          <a:prstGeom prst="ellipse">
            <a:avLst/>
          </a:prstGeom>
          <a:solidFill>
            <a:srgbClr val="01284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2499275" y="3840675"/>
            <a:ext cx="507600" cy="507600"/>
          </a:xfrm>
          <a:prstGeom prst="ellipse">
            <a:avLst/>
          </a:prstGeom>
          <a:solidFill>
            <a:srgbClr val="436E99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4686838" y="3840675"/>
            <a:ext cx="507600" cy="507600"/>
          </a:xfrm>
          <a:prstGeom prst="ellipse">
            <a:avLst/>
          </a:prstGeom>
          <a:solidFill>
            <a:srgbClr val="DBC086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6874425" y="3840675"/>
            <a:ext cx="507600" cy="507600"/>
          </a:xfrm>
          <a:prstGeom prst="ellipse">
            <a:avLst/>
          </a:prstGeom>
          <a:solidFill>
            <a:srgbClr val="FFF0C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311700" y="1706104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01284F"/>
          </a:solidFill>
          <a:ln w="9525" cap="flat" cmpd="sng">
            <a:solidFill>
              <a:srgbClr val="012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Founding vision &amp; inception</a:t>
            </a:r>
            <a:endParaRPr sz="900" b="1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311700" y="2065840"/>
            <a:ext cx="1950600" cy="1738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Founded in 2015 with the mission of “sharing </a:t>
            </a:r>
            <a:r>
              <a:rPr lang="en-GB" sz="900" dirty="0" err="1">
                <a:latin typeface="Manrope"/>
                <a:ea typeface="Manrope"/>
                <a:cs typeface="Manrope"/>
                <a:sym typeface="Manrope"/>
              </a:rPr>
              <a:t>happyness</a:t>
            </a: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” as a digital and creative partner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Emphasized a deep understanding of Vietnamese culture with the embedded digital frontier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2499263" y="1503629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436E99"/>
          </a:solidFill>
          <a:ln w="9525" cap="flat" cmpd="sng">
            <a:solidFill>
              <a:srgbClr val="436E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Introduction of the XPhin Model</a:t>
            </a:r>
            <a:endParaRPr sz="900" b="1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2499267" y="1843518"/>
            <a:ext cx="1950600" cy="1960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Developed the proprietary XPhin Model, a strategic and creative planning framework inspired by the Vietnamese phin coffee filter, symbolizing a meticulous and culturally grounded approach to campaign development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4686838" y="1322879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DCC086"/>
          </a:solidFill>
          <a:ln w="9525" cap="flat" cmpd="sng">
            <a:solidFill>
              <a:srgbClr val="DBC0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latin typeface="Manrope"/>
                <a:ea typeface="Manrope"/>
                <a:cs typeface="Manrope"/>
                <a:sym typeface="Manrope"/>
              </a:rPr>
              <a:t>Expansion of services &amp; client base</a:t>
            </a:r>
            <a:endParaRPr sz="900" b="1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4686833" y="1662678"/>
            <a:ext cx="1950600" cy="21417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Expanded to a comprehensive service suite: creative solutions, 360 digital performance, social management, influence hacking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Collaborated with 100+ clients and 500+ projects across various industries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6874400" y="1134104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FEF1CF"/>
          </a:solidFill>
          <a:ln w="9525" cap="flat" cmpd="sng">
            <a:solidFill>
              <a:srgbClr val="FFF0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latin typeface="Manrope"/>
                <a:ea typeface="Manrope"/>
                <a:cs typeface="Manrope"/>
                <a:sym typeface="Manrope"/>
              </a:rPr>
              <a:t>Launch of Xanh &amp; Partners</a:t>
            </a:r>
            <a:endParaRPr sz="900" b="1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6874400" y="1482866"/>
            <a:ext cx="1950600" cy="23214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Introduced the end-to-end integrated solutions comprising: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158100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2015</a:t>
            </a:r>
            <a:endParaRPr sz="9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2345667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2019</a:t>
            </a:r>
            <a:endParaRPr sz="9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4533258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2020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6720825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2023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7805" y="3230940"/>
            <a:ext cx="1073524" cy="604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17575" y="2128229"/>
            <a:ext cx="364450" cy="3644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7017575" y="3241967"/>
            <a:ext cx="730800" cy="364500"/>
          </a:xfrm>
          <a:prstGeom prst="rect">
            <a:avLst/>
          </a:prstGeom>
          <a:solidFill>
            <a:srgbClr val="DBC08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97" name="Google Shape;9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17575" y="2693441"/>
            <a:ext cx="364451" cy="364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49500" y="3336666"/>
            <a:ext cx="666926" cy="15500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/>
          <p:nvPr/>
        </p:nvSpPr>
        <p:spPr>
          <a:xfrm>
            <a:off x="7343339" y="2127242"/>
            <a:ext cx="13716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latin typeface="Manrope"/>
                <a:ea typeface="Manrope"/>
                <a:cs typeface="Manrope"/>
                <a:sym typeface="Manrope"/>
              </a:rPr>
              <a:t>Social-tainment marketing</a:t>
            </a:r>
            <a:endParaRPr sz="7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7343339" y="2678067"/>
            <a:ext cx="13716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latin typeface="Manrope"/>
                <a:ea typeface="Manrope"/>
                <a:cs typeface="Manrope"/>
                <a:sym typeface="Manrope"/>
              </a:rPr>
              <a:t>Ecommerce enablement and solutions</a:t>
            </a:r>
            <a:endParaRPr sz="7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7705290" y="3228892"/>
            <a:ext cx="10533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latin typeface="Manrope"/>
                <a:ea typeface="Manrope"/>
                <a:cs typeface="Manrope"/>
                <a:sym typeface="Manrope"/>
              </a:rPr>
              <a:t>Creative production house</a:t>
            </a:r>
            <a:endParaRPr sz="700" dirty="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300" b="1" dirty="0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Vietnam’s ecommerce and social commerce boom - a digital gold rush</a:t>
            </a:r>
            <a:endParaRPr sz="13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8" name="Google Shape;108;p15"/>
          <p:cNvSpPr txBox="1">
            <a:spLocks noGrp="1"/>
          </p:cNvSpPr>
          <p:nvPr>
            <p:ph type="title"/>
          </p:nvPr>
        </p:nvSpPr>
        <p:spPr>
          <a:xfrm>
            <a:off x="311700" y="67590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-GB" sz="1100" i="1" dirty="0">
                <a:latin typeface="Manrope"/>
                <a:ea typeface="Manrope"/>
                <a:cs typeface="Manrope"/>
                <a:sym typeface="Manrope"/>
              </a:rPr>
              <a:t>Riding the next wave of digital commerce: platforms, creators, and social engagement</a:t>
            </a:r>
            <a:endParaRPr sz="1100" i="1" dirty="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15" name="Google Shape;11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375" y="197625"/>
            <a:ext cx="666925" cy="6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/>
          <p:nvPr/>
        </p:nvSpPr>
        <p:spPr>
          <a:xfrm>
            <a:off x="311700" y="1044807"/>
            <a:ext cx="41601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dirty="0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Ecommerce is still on the rise</a:t>
            </a:r>
            <a:endParaRPr sz="11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18" name="Google Shape;118;p15"/>
          <p:cNvCxnSpPr>
            <a:cxnSpLocks/>
          </p:cNvCxnSpPr>
          <p:nvPr/>
        </p:nvCxnSpPr>
        <p:spPr>
          <a:xfrm>
            <a:off x="311700" y="1387944"/>
            <a:ext cx="8521150" cy="0"/>
          </a:xfrm>
          <a:prstGeom prst="straightConnector1">
            <a:avLst/>
          </a:prstGeom>
          <a:noFill/>
          <a:ln w="9525" cap="flat" cmpd="sng">
            <a:solidFill>
              <a:srgbClr val="01274F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245827F-10B9-5075-451F-B8DED91A44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393232"/>
              </p:ext>
            </p:extLst>
          </p:nvPr>
        </p:nvGraphicFramePr>
        <p:xfrm>
          <a:off x="318999" y="1913654"/>
          <a:ext cx="4918019" cy="1864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Google Shape;117;p15">
            <a:extLst>
              <a:ext uri="{FF2B5EF4-FFF2-40B4-BE49-F238E27FC236}">
                <a16:creationId xmlns:a16="http://schemas.microsoft.com/office/drawing/2014/main" id="{62D8C9C6-FB03-D940-2B18-7D56A56ADEFE}"/>
              </a:ext>
            </a:extLst>
          </p:cNvPr>
          <p:cNvSpPr/>
          <p:nvPr/>
        </p:nvSpPr>
        <p:spPr>
          <a:xfrm>
            <a:off x="311700" y="1436607"/>
            <a:ext cx="3225000" cy="152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Vietnam’s ecommerce industry, </a:t>
            </a:r>
            <a:r>
              <a:rPr lang="en-GB" sz="700" dirty="0" err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US$bn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" name="Google Shape;81;p14">
            <a:extLst>
              <a:ext uri="{FF2B5EF4-FFF2-40B4-BE49-F238E27FC236}">
                <a16:creationId xmlns:a16="http://schemas.microsoft.com/office/drawing/2014/main" id="{0BB0DD2E-3D46-1319-85E9-721A8BD6754F}"/>
              </a:ext>
            </a:extLst>
          </p:cNvPr>
          <p:cNvSpPr/>
          <p:nvPr/>
        </p:nvSpPr>
        <p:spPr>
          <a:xfrm>
            <a:off x="5452171" y="1594034"/>
            <a:ext cx="3380679" cy="161700"/>
          </a:xfrm>
          <a:prstGeom prst="roundRect">
            <a:avLst>
              <a:gd name="adj" fmla="val 19287"/>
            </a:avLst>
          </a:prstGeom>
          <a:solidFill>
            <a:srgbClr val="01284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Key drivers</a:t>
            </a:r>
            <a:endParaRPr sz="900" b="1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" name="Google Shape;125;p15">
            <a:extLst>
              <a:ext uri="{FF2B5EF4-FFF2-40B4-BE49-F238E27FC236}">
                <a16:creationId xmlns:a16="http://schemas.microsoft.com/office/drawing/2014/main" id="{D7575F91-11CC-1144-7A08-EB8DC57327A9}"/>
              </a:ext>
            </a:extLst>
          </p:cNvPr>
          <p:cNvSpPr/>
          <p:nvPr/>
        </p:nvSpPr>
        <p:spPr>
          <a:xfrm>
            <a:off x="348882" y="3859393"/>
            <a:ext cx="8483418" cy="836745"/>
          </a:xfrm>
          <a:prstGeom prst="rect">
            <a:avLst/>
          </a:prstGeom>
          <a:solidFill>
            <a:srgbClr val="01274F"/>
          </a:solidFill>
          <a:ln w="38100" cap="flat" cmpd="sng">
            <a:solidFill>
              <a:srgbClr val="0127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0000" tIns="91425" rIns="91425" bIns="91425" anchor="ctr" anchorCtr="0">
            <a:no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Manrope" pitchFamily="2" charset="0"/>
              </a:rPr>
              <a:t>OnPoint, a leading Vietnamese e-commerce enabler, secured US$50m to enhance its omnichannel solutions and expand its digital commerce ecosystem across SEA. In December 2024, OnPoint acquired Thailand-based e-commerce service provider CREA to strengthen its regional presence and offer comprehensive digital commerce solutions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70E3F2-C496-220D-182C-231AADB59465}"/>
              </a:ext>
            </a:extLst>
          </p:cNvPr>
          <p:cNvSpPr/>
          <p:nvPr/>
        </p:nvSpPr>
        <p:spPr>
          <a:xfrm>
            <a:off x="348880" y="3859393"/>
            <a:ext cx="754999" cy="8367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28" name="Picture 4" descr="Onpoint E-commerce">
            <a:extLst>
              <a:ext uri="{FF2B5EF4-FFF2-40B4-BE49-F238E27FC236}">
                <a16:creationId xmlns:a16="http://schemas.microsoft.com/office/drawing/2014/main" id="{A33C07C0-1F9B-112B-59D8-2C1160A698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72" b="38527"/>
          <a:stretch>
            <a:fillRect/>
          </a:stretch>
        </p:blipFill>
        <p:spPr bwMode="auto">
          <a:xfrm>
            <a:off x="374691" y="4205029"/>
            <a:ext cx="703376" cy="165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Google Shape;81;p14">
            <a:extLst>
              <a:ext uri="{FF2B5EF4-FFF2-40B4-BE49-F238E27FC236}">
                <a16:creationId xmlns:a16="http://schemas.microsoft.com/office/drawing/2014/main" id="{09C39C24-0E55-9D1E-4EB9-81BD06D97723}"/>
              </a:ext>
            </a:extLst>
          </p:cNvPr>
          <p:cNvSpPr/>
          <p:nvPr/>
        </p:nvSpPr>
        <p:spPr>
          <a:xfrm>
            <a:off x="5867807" y="1799915"/>
            <a:ext cx="1646495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High internet penetration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" name="Google Shape;81;p14">
            <a:extLst>
              <a:ext uri="{FF2B5EF4-FFF2-40B4-BE49-F238E27FC236}">
                <a16:creationId xmlns:a16="http://schemas.microsoft.com/office/drawing/2014/main" id="{84DDC990-4CE7-8693-695F-6FF80C5FE3C2}"/>
              </a:ext>
            </a:extLst>
          </p:cNvPr>
          <p:cNvSpPr/>
          <p:nvPr/>
        </p:nvSpPr>
        <p:spPr>
          <a:xfrm>
            <a:off x="5867808" y="2321658"/>
            <a:ext cx="1646494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Young, tech-savvy population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" name="Google Shape;81;p14">
            <a:extLst>
              <a:ext uri="{FF2B5EF4-FFF2-40B4-BE49-F238E27FC236}">
                <a16:creationId xmlns:a16="http://schemas.microsoft.com/office/drawing/2014/main" id="{C5A183CE-4522-84F5-0E8B-C37245059318}"/>
              </a:ext>
            </a:extLst>
          </p:cNvPr>
          <p:cNvSpPr/>
          <p:nvPr/>
        </p:nvSpPr>
        <p:spPr>
          <a:xfrm>
            <a:off x="5867808" y="2890044"/>
            <a:ext cx="2965042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Social media integration &amp; shoppertainment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030" name="Picture 6" descr="Globe ">
            <a:extLst>
              <a:ext uri="{FF2B5EF4-FFF2-40B4-BE49-F238E27FC236}">
                <a16:creationId xmlns:a16="http://schemas.microsoft.com/office/drawing/2014/main" id="{ED93ACED-556B-A438-E382-C02CE64E1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6943" y="1970764"/>
            <a:ext cx="297586" cy="297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ouch ">
            <a:extLst>
              <a:ext uri="{FF2B5EF4-FFF2-40B4-BE49-F238E27FC236}">
                <a16:creationId xmlns:a16="http://schemas.microsoft.com/office/drawing/2014/main" id="{1FA658E1-A5D4-4B3C-A413-12F929515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250" y="2532996"/>
            <a:ext cx="303283" cy="303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ommunication ">
            <a:extLst>
              <a:ext uri="{FF2B5EF4-FFF2-40B4-BE49-F238E27FC236}">
                <a16:creationId xmlns:a16="http://schemas.microsoft.com/office/drawing/2014/main" id="{A955460E-EDEA-B466-B4A1-BACF92D5F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2171" y="3091987"/>
            <a:ext cx="341276" cy="34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81;p14">
            <a:extLst>
              <a:ext uri="{FF2B5EF4-FFF2-40B4-BE49-F238E27FC236}">
                <a16:creationId xmlns:a16="http://schemas.microsoft.com/office/drawing/2014/main" id="{511A2F32-6897-D3A4-E7CE-8B8279FA0B53}"/>
              </a:ext>
            </a:extLst>
          </p:cNvPr>
          <p:cNvSpPr/>
          <p:nvPr/>
        </p:nvSpPr>
        <p:spPr>
          <a:xfrm>
            <a:off x="5867807" y="2042566"/>
            <a:ext cx="1646495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Description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" name="Google Shape;81;p14">
            <a:extLst>
              <a:ext uri="{FF2B5EF4-FFF2-40B4-BE49-F238E27FC236}">
                <a16:creationId xmlns:a16="http://schemas.microsoft.com/office/drawing/2014/main" id="{664D05F5-327D-7F72-0FCD-5A1E85017BEB}"/>
              </a:ext>
            </a:extLst>
          </p:cNvPr>
          <p:cNvSpPr/>
          <p:nvPr/>
        </p:nvSpPr>
        <p:spPr>
          <a:xfrm>
            <a:off x="5867808" y="2556726"/>
            <a:ext cx="1646494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Description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" name="Google Shape;81;p14">
            <a:extLst>
              <a:ext uri="{FF2B5EF4-FFF2-40B4-BE49-F238E27FC236}">
                <a16:creationId xmlns:a16="http://schemas.microsoft.com/office/drawing/2014/main" id="{D0B1EB4D-A13C-6BA3-9891-7C2238CFD2DE}"/>
              </a:ext>
            </a:extLst>
          </p:cNvPr>
          <p:cNvSpPr/>
          <p:nvPr/>
        </p:nvSpPr>
        <p:spPr>
          <a:xfrm>
            <a:off x="5867808" y="3147354"/>
            <a:ext cx="2965042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Description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300" b="1" dirty="0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Proposed investment highlights to best position Xanh Marketing</a:t>
            </a:r>
            <a:endParaRPr sz="13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5" name="Google Shape;135;p16"/>
          <p:cNvSpPr txBox="1">
            <a:spLocks noGrp="1"/>
          </p:cNvSpPr>
          <p:nvPr>
            <p:ph type="title"/>
          </p:nvPr>
        </p:nvSpPr>
        <p:spPr>
          <a:xfrm>
            <a:off x="311700" y="67590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-GB" sz="1100" i="1" dirty="0">
                <a:latin typeface="Manrope"/>
                <a:ea typeface="Manrope"/>
                <a:cs typeface="Manrope"/>
                <a:sym typeface="Manrope"/>
              </a:rPr>
              <a:t>Thoughtful positioning of Xanh Marketing to help drive an above market valuation</a:t>
            </a:r>
            <a:endParaRPr sz="1100" i="1" dirty="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42" name="Google Shape;14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375" y="197625"/>
            <a:ext cx="666925" cy="6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Xanh Marketing | MMA Global">
            <a:extLst>
              <a:ext uri="{FF2B5EF4-FFF2-40B4-BE49-F238E27FC236}">
                <a16:creationId xmlns:a16="http://schemas.microsoft.com/office/drawing/2014/main" id="{2FF07E6F-46FC-36A7-BFA4-50C89ECA1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558" y="1125500"/>
            <a:ext cx="2362883" cy="40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8A2E15-6794-E92F-6EF3-85A47E80A51F}"/>
              </a:ext>
            </a:extLst>
          </p:cNvPr>
          <p:cNvSpPr/>
          <p:nvPr/>
        </p:nvSpPr>
        <p:spPr>
          <a:xfrm>
            <a:off x="323850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DBEB25-0677-7B5A-384F-B1CAA30190B0}"/>
              </a:ext>
            </a:extLst>
          </p:cNvPr>
          <p:cNvSpPr/>
          <p:nvPr/>
        </p:nvSpPr>
        <p:spPr>
          <a:xfrm>
            <a:off x="2492279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EEA439-CD7B-51D6-89EA-E1E2A0BF3E45}"/>
              </a:ext>
            </a:extLst>
          </p:cNvPr>
          <p:cNvSpPr/>
          <p:nvPr/>
        </p:nvSpPr>
        <p:spPr>
          <a:xfrm>
            <a:off x="4660708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33E3AD-9659-7C70-3056-E73B92A1F4DE}"/>
              </a:ext>
            </a:extLst>
          </p:cNvPr>
          <p:cNvSpPr/>
          <p:nvPr/>
        </p:nvSpPr>
        <p:spPr>
          <a:xfrm>
            <a:off x="6829136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8" name="Google Shape;188;p19">
            <a:extLst>
              <a:ext uri="{FF2B5EF4-FFF2-40B4-BE49-F238E27FC236}">
                <a16:creationId xmlns:a16="http://schemas.microsoft.com/office/drawing/2014/main" id="{DFD6E7D3-5631-529D-FAFC-4489FB2A7525}"/>
              </a:ext>
            </a:extLst>
          </p:cNvPr>
          <p:cNvCxnSpPr>
            <a:cxnSpLocks/>
          </p:cNvCxnSpPr>
          <p:nvPr/>
        </p:nvCxnSpPr>
        <p:spPr>
          <a:xfrm>
            <a:off x="323850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01284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88;p19">
            <a:extLst>
              <a:ext uri="{FF2B5EF4-FFF2-40B4-BE49-F238E27FC236}">
                <a16:creationId xmlns:a16="http://schemas.microsoft.com/office/drawing/2014/main" id="{1A70FF56-79EA-05D2-5137-7796CA2A3688}"/>
              </a:ext>
            </a:extLst>
          </p:cNvPr>
          <p:cNvCxnSpPr>
            <a:cxnSpLocks/>
          </p:cNvCxnSpPr>
          <p:nvPr/>
        </p:nvCxnSpPr>
        <p:spPr>
          <a:xfrm>
            <a:off x="2487750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436E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88;p19">
            <a:extLst>
              <a:ext uri="{FF2B5EF4-FFF2-40B4-BE49-F238E27FC236}">
                <a16:creationId xmlns:a16="http://schemas.microsoft.com/office/drawing/2014/main" id="{0B5835AE-11F1-22E8-6D6A-E7DB52AB4094}"/>
              </a:ext>
            </a:extLst>
          </p:cNvPr>
          <p:cNvCxnSpPr>
            <a:cxnSpLocks/>
          </p:cNvCxnSpPr>
          <p:nvPr/>
        </p:nvCxnSpPr>
        <p:spPr>
          <a:xfrm>
            <a:off x="4660708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DCC08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88;p19">
            <a:extLst>
              <a:ext uri="{FF2B5EF4-FFF2-40B4-BE49-F238E27FC236}">
                <a16:creationId xmlns:a16="http://schemas.microsoft.com/office/drawing/2014/main" id="{357C9C08-53ED-6443-B69B-1086B79F5BAE}"/>
              </a:ext>
            </a:extLst>
          </p:cNvPr>
          <p:cNvCxnSpPr>
            <a:cxnSpLocks/>
          </p:cNvCxnSpPr>
          <p:nvPr/>
        </p:nvCxnSpPr>
        <p:spPr>
          <a:xfrm>
            <a:off x="6821286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1EA89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Google Shape;134;p16">
            <a:extLst>
              <a:ext uri="{FF2B5EF4-FFF2-40B4-BE49-F238E27FC236}">
                <a16:creationId xmlns:a16="http://schemas.microsoft.com/office/drawing/2014/main" id="{FD6BEF3A-2085-F196-E3B8-1CA2C7C995C6}"/>
              </a:ext>
            </a:extLst>
          </p:cNvPr>
          <p:cNvSpPr txBox="1">
            <a:spLocks/>
          </p:cNvSpPr>
          <p:nvPr/>
        </p:nvSpPr>
        <p:spPr>
          <a:xfrm>
            <a:off x="323850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n-GB" sz="900" b="1" dirty="0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A premier digital-first creative agency with deep cultural insight</a:t>
            </a:r>
          </a:p>
        </p:txBody>
      </p:sp>
      <p:sp>
        <p:nvSpPr>
          <p:cNvPr id="17" name="Google Shape;134;p16">
            <a:extLst>
              <a:ext uri="{FF2B5EF4-FFF2-40B4-BE49-F238E27FC236}">
                <a16:creationId xmlns:a16="http://schemas.microsoft.com/office/drawing/2014/main" id="{B332ACC8-F226-D0B3-4B03-6395A065AFDD}"/>
              </a:ext>
            </a:extLst>
          </p:cNvPr>
          <p:cNvSpPr txBox="1">
            <a:spLocks/>
          </p:cNvSpPr>
          <p:nvPr/>
        </p:nvSpPr>
        <p:spPr>
          <a:xfrm>
            <a:off x="2484428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n-GB" sz="900" b="1" dirty="0">
                <a:solidFill>
                  <a:srgbClr val="436E99"/>
                </a:solidFill>
                <a:latin typeface="Manrope"/>
                <a:ea typeface="Manrope"/>
                <a:cs typeface="Manrope"/>
                <a:sym typeface="Manrope"/>
              </a:rPr>
              <a:t>Blue-chip customer base with diverse end markets</a:t>
            </a:r>
          </a:p>
        </p:txBody>
      </p:sp>
      <p:sp>
        <p:nvSpPr>
          <p:cNvPr id="18" name="Google Shape;134;p16">
            <a:extLst>
              <a:ext uri="{FF2B5EF4-FFF2-40B4-BE49-F238E27FC236}">
                <a16:creationId xmlns:a16="http://schemas.microsoft.com/office/drawing/2014/main" id="{40DFE097-C3FA-A028-AAF1-9F4F9EEA03A6}"/>
              </a:ext>
            </a:extLst>
          </p:cNvPr>
          <p:cNvSpPr txBox="1">
            <a:spLocks/>
          </p:cNvSpPr>
          <p:nvPr/>
        </p:nvSpPr>
        <p:spPr>
          <a:xfrm>
            <a:off x="4660707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n-GB" sz="900" b="1" dirty="0">
                <a:solidFill>
                  <a:srgbClr val="DCC086"/>
                </a:solidFill>
                <a:latin typeface="Manrope"/>
                <a:ea typeface="Manrope"/>
                <a:cs typeface="Manrope"/>
                <a:sym typeface="Manrope"/>
              </a:rPr>
              <a:t>Compelling financials</a:t>
            </a:r>
          </a:p>
        </p:txBody>
      </p:sp>
      <p:sp>
        <p:nvSpPr>
          <p:cNvPr id="19" name="Google Shape;134;p16">
            <a:extLst>
              <a:ext uri="{FF2B5EF4-FFF2-40B4-BE49-F238E27FC236}">
                <a16:creationId xmlns:a16="http://schemas.microsoft.com/office/drawing/2014/main" id="{EE3426EB-4896-B4C4-DE7C-8008207D5E1A}"/>
              </a:ext>
            </a:extLst>
          </p:cNvPr>
          <p:cNvSpPr txBox="1">
            <a:spLocks/>
          </p:cNvSpPr>
          <p:nvPr/>
        </p:nvSpPr>
        <p:spPr>
          <a:xfrm>
            <a:off x="6821286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n-GB" sz="900" b="1" dirty="0">
                <a:solidFill>
                  <a:srgbClr val="1EA89B"/>
                </a:solidFill>
                <a:latin typeface="Manrope"/>
                <a:ea typeface="Manrope"/>
                <a:cs typeface="Manrope"/>
                <a:sym typeface="Manrope"/>
              </a:rPr>
              <a:t>From agency to platform to become the end-to-end solution provider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631D84D-AD5E-F1E6-E141-85737632F54E}"/>
              </a:ext>
            </a:extLst>
          </p:cNvPr>
          <p:cNvSpPr/>
          <p:nvPr/>
        </p:nvSpPr>
        <p:spPr>
          <a:xfrm>
            <a:off x="324000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t"/>
          <a:lstStyle/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Founded in 2015 with a mission to deliver brand campaigns rooted in Vietnamese culture 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Developed the XPhin Model, a creative framework inspired by Vietnam’s phin coffee filter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Ideal for investors seeking culturally-rooted, scalable platforms in SEA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451D967-7D47-0DD6-AE8A-8BC01F291D2B}"/>
              </a:ext>
            </a:extLst>
          </p:cNvPr>
          <p:cNvSpPr/>
          <p:nvPr/>
        </p:nvSpPr>
        <p:spPr>
          <a:xfrm>
            <a:off x="2484426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Track record of over 500 campaigns for 100+ brands across digital and social channels, emphasizing creativity and cultural relevance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Proven ability to adapt brand narratives to various sectors with high standards of execution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Diversified client base provides revenue stability and cross-sell potential, lowering customer concentration risk for investors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900" dirty="0">
              <a:solidFill>
                <a:schemeClr val="tx1"/>
              </a:solidFill>
              <a:latin typeface="Manrope" pitchFamily="2" charset="0"/>
              <a:cs typeface="Mangal" panose="02040503050203030202" pitchFamily="18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007F49-1CE5-76E2-649C-38B5184E0A97}"/>
              </a:ext>
            </a:extLst>
          </p:cNvPr>
          <p:cNvSpPr/>
          <p:nvPr/>
        </p:nvSpPr>
        <p:spPr>
          <a:xfrm>
            <a:off x="4668559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6838" indent="-9683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i="1" dirty="0">
                <a:solidFill>
                  <a:schemeClr val="bg2"/>
                </a:solidFill>
                <a:latin typeface="Manrope" pitchFamily="2" charset="0"/>
              </a:rPr>
              <a:t>TBU after accessing to Xanh’s financial documents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84FDA0F-5584-4CC7-C1FB-A2DDEC077DF1}"/>
              </a:ext>
            </a:extLst>
          </p:cNvPr>
          <p:cNvSpPr/>
          <p:nvPr/>
        </p:nvSpPr>
        <p:spPr>
          <a:xfrm>
            <a:off x="6836987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Positioning to become a one-stop platform for modern brand-building: blending culture, content, and commerce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Platform model unlocks economies of scale and cross-selling opportunities for strategic players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Ideal platform for both strategic and financial investors to “invest and build” and consolidate similar players in the market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F23041F193214B8E57F0E285C1A82C" ma:contentTypeVersion="15" ma:contentTypeDescription="Create a new document." ma:contentTypeScope="" ma:versionID="cf3ebee454f8221a9c629dca5cfa0020">
  <xsd:schema xmlns:xsd="http://www.w3.org/2001/XMLSchema" xmlns:xs="http://www.w3.org/2001/XMLSchema" xmlns:p="http://schemas.microsoft.com/office/2006/metadata/properties" xmlns:ns3="f0e9e1ab-6588-40ca-8aec-421ae5e03741" xmlns:ns4="1b879db0-c332-4749-8662-4ec22ed2fa72" targetNamespace="http://schemas.microsoft.com/office/2006/metadata/properties" ma:root="true" ma:fieldsID="d0b1b7a147e5670e199648fc6c7b9374" ns3:_="" ns4:_="">
    <xsd:import namespace="f0e9e1ab-6588-40ca-8aec-421ae5e03741"/>
    <xsd:import namespace="1b879db0-c332-4749-8662-4ec22ed2fa7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9e1ab-6588-40ca-8aec-421ae5e037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879db0-c332-4749-8662-4ec22ed2fa7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0e9e1ab-6588-40ca-8aec-421ae5e03741" xsi:nil="true"/>
  </documentManagement>
</p:properties>
</file>

<file path=customXml/itemProps1.xml><?xml version="1.0" encoding="utf-8"?>
<ds:datastoreItem xmlns:ds="http://schemas.openxmlformats.org/officeDocument/2006/customXml" ds:itemID="{CDD3A138-5ACD-47B5-BD62-AB387AD451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e9e1ab-6588-40ca-8aec-421ae5e03741"/>
    <ds:schemaRef ds:uri="1b879db0-c332-4749-8662-4ec22ed2fa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E9700B6-E377-42AF-AE50-E1D4C832DF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45DB43-CE85-49D2-A992-FA955C0F5359}">
  <ds:schemaRefs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1b879db0-c332-4749-8662-4ec22ed2fa72"/>
    <ds:schemaRef ds:uri="f0e9e1ab-6588-40ca-8aec-421ae5e03741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626</TotalTime>
  <Words>451</Words>
  <Application>Microsoft Office PowerPoint</Application>
  <PresentationFormat>On-screen Show (16:9)</PresentationFormat>
  <Paragraphs>47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Manrope</vt:lpstr>
      <vt:lpstr>Arial</vt:lpstr>
      <vt:lpstr>Simple Light</vt:lpstr>
      <vt:lpstr>A decade of innovation, growth with digital frontier</vt:lpstr>
      <vt:lpstr>Vietnam’s ecommerce and social commerce boom - a digital gold rush</vt:lpstr>
      <vt:lpstr>Proposed investment highlights to best position Xanh Marketing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Giang Nguyen</dc:creator>
  <cp:lastModifiedBy>VÕ MINH KHÔI</cp:lastModifiedBy>
  <cp:revision>12</cp:revision>
  <dcterms:modified xsi:type="dcterms:W3CDTF">2025-10-18T16:43:09Z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0x010100BCF23041F193214B8E57F0E285C1A82C</vt:lpwstr>
  </property>
</Properties>
</file>