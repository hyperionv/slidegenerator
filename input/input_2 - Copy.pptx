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9"/>
  </p:notesMasterIdLst>
  <p:sldIdLst>
    <p:sldId id="257" r:id="rId5"/>
    <p:sldId id="258" r:id="rId6"/>
    <p:sldId id="259" r:id="rId7"/>
    <p:sldId id="260" r:id="rId8"/>
  </p:sldIdLst>
  <p:sldSz cx="9144000" cy="5143500" type="screen16x9"/>
  <p:notesSz cx="6858000" cy="9144000"/>
  <p:embeddedFontLst>
    <p:embeddedFont>
      <p:font typeface="Manrope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for the company profile, where a historical timeline, containing the milestones of the target company will be displayed. THIS IS HUMAN-GENERATED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contains the Investment Highlights, make sure to keep the 3</a:t>
            </a:r>
            <a:r>
              <a:rPr lang="en-US" baseline="30000"/>
              <a:t>rd</a:t>
            </a:r>
            <a:r>
              <a:rPr lang="en-US"/>
              <a:t> column’s content (not header) “TBU”. This rule is only applied for the content of the 3</a:t>
            </a:r>
            <a:r>
              <a:rPr lang="en-US" baseline="30000"/>
              <a:t>rd</a:t>
            </a:r>
            <a:r>
              <a:rPr lang="en-US"/>
              <a:t> row, generate the rest of the content as-is.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5E2C6036-AC0C-29C3-5831-BAA9EAB4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>
            <a:extLst>
              <a:ext uri="{FF2B5EF4-FFF2-40B4-BE49-F238E27FC236}">
                <a16:creationId xmlns:a16="http://schemas.microsoft.com/office/drawing/2014/main" id="{C8FC8836-0733-DDE4-3E27-32940CB9F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>
            <a:extLst>
              <a:ext uri="{FF2B5EF4-FFF2-40B4-BE49-F238E27FC236}">
                <a16:creationId xmlns:a16="http://schemas.microsoft.com/office/drawing/2014/main" id="{7AD5B49A-0BD4-A46E-B58A-CF33F6F50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for experimenting purpose, specifically for testing out the table component, please generate some random content for the tables in the slide.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764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decade of innovation, growth with digital frontier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The comprehensive suite of marketing and branding solutions with cultural depth and digital leadership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Founding vision &amp; inception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Founded in 2015 with the mission of “sharing 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of the XPhin Model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Developed the proprietary XPhin Model, a strategic and creative planning framework inspired by the Vietnamese phin coffee filter, symbolizing a meticulous and culturally grounded approach to campaign development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Expansion of services &amp; client base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Expanded to a comprehensive service suite: creative solutions, 360 digital performance, social management, influence hacking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Launch of Xanh &amp; Partners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6443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Introduced the end-to-end integrated solutions comprising: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027976" y="2127242"/>
            <a:ext cx="1686963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Social-tainment marketing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027976" y="2678067"/>
            <a:ext cx="1686963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Ecommerce enablement and solutions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027977" y="3228892"/>
            <a:ext cx="1730614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Creative production house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Vietnam’s ecommerce and social commerce boom - a digital gold rush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Riding the next wave of digital commerce: platforms, creators, and social engagement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Ecommerce is still on the rise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Vietnam’s ecommerce industry, </a:t>
            </a:r>
            <a:r>
              <a:rPr lang="en-GB" sz="700" dirty="0" err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Key drivers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lang="en-US" sz="900">
                <a:solidFill>
                  <a:schemeClr val="bg1"/>
                </a:solidFill>
                <a:latin typeface="Manrope" pitchFamily="2" charset="0"/>
              </a:rPr>
              <a:t>&lt;INSTRUCTION&gt; Generate the instructions for making a flan in 5 words</a:t>
            </a:r>
            <a:endParaRPr lang="en-US" sz="9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2964493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internet penetration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7" y="2321658"/>
            <a:ext cx="2957193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Young, tech-savvy population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Social media integration &amp; shoppertainment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29571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295719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Proposed investment highlights to best position Xanh Marketing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Thoughtful positioning of Xanh Marketing to help drive an above market valuation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premier digital-first creative agency with deep cultural insight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436E99"/>
                </a:solidFill>
                <a:latin typeface="Manrope"/>
                <a:ea typeface="Manrope"/>
                <a:cs typeface="Manrope"/>
                <a:sym typeface="Manrope"/>
              </a:rPr>
              <a:t>Blue-chip customer base with diverse end markets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DCC086"/>
                </a:solidFill>
                <a:latin typeface="Manrope"/>
                <a:ea typeface="Manrope"/>
                <a:cs typeface="Manrope"/>
                <a:sym typeface="Manrope"/>
              </a:rPr>
              <a:t>Compelling financials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1EA89B"/>
                </a:solidFill>
                <a:latin typeface="Manrope"/>
                <a:ea typeface="Manrope"/>
                <a:cs typeface="Manrope"/>
                <a:sym typeface="Manrope"/>
              </a:rPr>
              <a:t>From agency to platform to become the end-to-end solution provider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Founded in 2015 with a mission to deliver brand campaigns rooted in Vietnamese culture 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Developed the XPhin Model, a creative framework inspired by Vietnam’s phin coffee filter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for investors seeking culturally-rooted, scalable platforms in SEA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Track record of over 500 campaigns for 100+ brands across digital and social channels, emphasizing creativity and cultural relevance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Proven ability to adapt brand narratives to various sectors with high standards of execution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Diversified client base provides revenue stability and cross-sell potential, lowering customer concentration risk for investors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900" dirty="0">
              <a:solidFill>
                <a:schemeClr val="tx1"/>
              </a:solidFill>
              <a:latin typeface="Manrope" pitchFamily="2" charset="0"/>
              <a:cs typeface="Mangal" panose="02040503050203030202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bg2"/>
                </a:solidFill>
                <a:latin typeface="Manrope" pitchFamily="2" charset="0"/>
              </a:rPr>
              <a:t>TBU after accessing to Xanh’s financial documents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Positioning to become a one-stop platform for modern brand-building: blending culture, content, and commerce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Platform model unlocks economies of scale and cross-selling opportunities for strategic players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platform for both strategic and financial investors to “invest and build” and consolidate similar players in the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F23190F4-DBA8-559F-5FC6-1FEE6FBA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30682E31-C871-C127-7716-2265BC478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Testing slide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6B97B7FD-F1F9-9A0A-D401-E61A09ACD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>
                <a:latin typeface="Manrope"/>
                <a:ea typeface="Manrope"/>
                <a:cs typeface="Manrope"/>
                <a:sym typeface="Manrope"/>
              </a:rPr>
              <a:t>Testing one-liner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>
            <a:extLst>
              <a:ext uri="{FF2B5EF4-FFF2-40B4-BE49-F238E27FC236}">
                <a16:creationId xmlns:a16="http://schemas.microsoft.com/office/drawing/2014/main" id="{BEAC9A27-436C-781D-305B-E4C204A47D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1DE94C-E46E-7631-7F03-5B905E8B1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50177"/>
              </p:ext>
            </p:extLst>
          </p:nvPr>
        </p:nvGraphicFramePr>
        <p:xfrm>
          <a:off x="311700" y="1328150"/>
          <a:ext cx="8520600" cy="759850"/>
        </p:xfrm>
        <a:graphic>
          <a:graphicData uri="http://schemas.openxmlformats.org/drawingml/2006/table">
            <a:tbl>
              <a:tblPr firstRow="1" bandRow="1">
                <a:tableStyleId>{E2C17D90-5EDD-40C1-A788-3ED6A1A31342}</a:tableStyleId>
              </a:tblPr>
              <a:tblGrid>
                <a:gridCol w="4260300">
                  <a:extLst>
                    <a:ext uri="{9D8B030D-6E8A-4147-A177-3AD203B41FA5}">
                      <a16:colId xmlns:a16="http://schemas.microsoft.com/office/drawing/2014/main" val="700972767"/>
                    </a:ext>
                  </a:extLst>
                </a:gridCol>
                <a:gridCol w="4260300">
                  <a:extLst>
                    <a:ext uri="{9D8B030D-6E8A-4147-A177-3AD203B41FA5}">
                      <a16:colId xmlns:a16="http://schemas.microsoft.com/office/drawing/2014/main" val="3300081763"/>
                    </a:ext>
                  </a:extLst>
                </a:gridCol>
              </a:tblGrid>
              <a:tr h="379925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883391"/>
                  </a:ext>
                </a:extLst>
              </a:tr>
              <a:tr h="379925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94058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87D4D5-9F46-21D6-3C40-F6CCEB3D4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371925"/>
              </p:ext>
            </p:extLst>
          </p:nvPr>
        </p:nvGraphicFramePr>
        <p:xfrm>
          <a:off x="311700" y="2459750"/>
          <a:ext cx="8520600" cy="759850"/>
        </p:xfrm>
        <a:graphic>
          <a:graphicData uri="http://schemas.openxmlformats.org/drawingml/2006/table">
            <a:tbl>
              <a:tblPr firstRow="1" bandRow="1">
                <a:tableStyleId>{E2C17D90-5EDD-40C1-A788-3ED6A1A31342}</a:tableStyleId>
              </a:tblPr>
              <a:tblGrid>
                <a:gridCol w="4260300">
                  <a:extLst>
                    <a:ext uri="{9D8B030D-6E8A-4147-A177-3AD203B41FA5}">
                      <a16:colId xmlns:a16="http://schemas.microsoft.com/office/drawing/2014/main" val="700972767"/>
                    </a:ext>
                  </a:extLst>
                </a:gridCol>
                <a:gridCol w="4260300">
                  <a:extLst>
                    <a:ext uri="{9D8B030D-6E8A-4147-A177-3AD203B41FA5}">
                      <a16:colId xmlns:a16="http://schemas.microsoft.com/office/drawing/2014/main" val="3300081763"/>
                    </a:ext>
                  </a:extLst>
                </a:gridCol>
              </a:tblGrid>
              <a:tr h="379925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883391"/>
                  </a:ext>
                </a:extLst>
              </a:tr>
              <a:tr h="379925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9405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71FB70-FB26-BF3C-556B-4724676D4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315980"/>
              </p:ext>
            </p:extLst>
          </p:nvPr>
        </p:nvGraphicFramePr>
        <p:xfrm>
          <a:off x="311700" y="3591350"/>
          <a:ext cx="8520600" cy="759850"/>
        </p:xfrm>
        <a:graphic>
          <a:graphicData uri="http://schemas.openxmlformats.org/drawingml/2006/table">
            <a:tbl>
              <a:tblPr firstRow="1" bandRow="1">
                <a:tableStyleId>{E2C17D90-5EDD-40C1-A788-3ED6A1A31342}</a:tableStyleId>
              </a:tblPr>
              <a:tblGrid>
                <a:gridCol w="4260300">
                  <a:extLst>
                    <a:ext uri="{9D8B030D-6E8A-4147-A177-3AD203B41FA5}">
                      <a16:colId xmlns:a16="http://schemas.microsoft.com/office/drawing/2014/main" val="700972767"/>
                    </a:ext>
                  </a:extLst>
                </a:gridCol>
                <a:gridCol w="4260300">
                  <a:extLst>
                    <a:ext uri="{9D8B030D-6E8A-4147-A177-3AD203B41FA5}">
                      <a16:colId xmlns:a16="http://schemas.microsoft.com/office/drawing/2014/main" val="3300081763"/>
                    </a:ext>
                  </a:extLst>
                </a:gridCol>
              </a:tblGrid>
              <a:tr h="379925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883391"/>
                  </a:ext>
                </a:extLst>
              </a:tr>
              <a:tr h="379925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94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8228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529</Words>
  <Application>Microsoft Office PowerPoint</Application>
  <PresentationFormat>On-screen Show (16:9)</PresentationFormat>
  <Paragraphs>64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Manrope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  <vt:lpstr>Testing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18</cp:revision>
  <dcterms:modified xsi:type="dcterms:W3CDTF">2025-11-27T16:59:49Z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